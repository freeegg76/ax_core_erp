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7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solidFill>
            <a:srgbClr val="EEF0FA"/>
          </a:solidFill>
          <a:ln w="9525">
            <a:solidFill>
              <a:srgbClr val="D7DBE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· 화면설계 산출물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 도메인 화면기획서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0" cy="640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관리 · 관리항목 관리 · 전표관리 · 초기이월 입력 · 은행/카드 관리 · 마감관리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Table 리스트  ② Table 내역서  ③ ERD  ④ 메뉴 프로세스  ⑤ 화면 기획서  ⑥ 이벤트 내역서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AX_Bridge_10__FR_UC_year_closing_updated.xlsx (Finance 명세 10차 개정 — 마감관리·연도이월·초기이월 bank_id 반영)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2026-08-12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v3.0 (Draft)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표준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도메인 화면기획서 4-3 및 FR-UI-01~07 준용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내 데이터는 기획 검토용 임시(더미) 데이터입니다.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 도메인은 회계 기준정보(계정과목·관리항목·은행/카드)와 전표(Head/Detail), 기초잔액·연도마감 등 8개 테이블로 구성된다.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920240"/>
                <a:gridCol w="1234440"/>
                <a:gridCol w="2651760"/>
                <a:gridCol w="39319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Name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Key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메뉴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finance_GL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gl_id / FK company·entity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마스터. 계정구분·상세구분1/2·부가세 구분·성격, contra_gl, 은행/카드·기본 관리항목·관리항목1~5·지급/입금일 사용플래그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마스터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dimension_id / FK company·entity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사용자정의 관리항목(최대 5개, Slot 1~5 순차 매핑)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finance_dimension_detail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상세값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line_no / FK dimension_id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관리항목별 상세값 목록. 전표라인 dimension1~5 입력값의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finance_open_balance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기초잔액(초기이월)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gl_id / FK company_year_id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기수별 초기이월 잔액 + 은행/카드·고객사·거래처 보조잔액. 수기 입력분과 연도마감 자동생성분(closed=Y 보호) 공존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초기이월 입력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Head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ledger_date+ledger_no / FK company·entity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헤더. 제목·타입·입력자/승인자·승인상태 관리. 번호는 일자별 순차 부여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Detail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line_on(+gl_id) / FK 전표키·gl_id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라인. 계정·차대변·금액·은행/카드(bank_id)·관리항목(부서/Pod/직원/고객사/거래처/관리항목1~5)·지급일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finance_bank_account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은행계좌/카드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bank_id / FK company·entity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은행계좌·법인카드 마스터. 계좌/카드 상호배타 입력, 카드번호 마스킹, 전표 Layer 3·초기이월에서 참조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finance_closing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회계마감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company_year_id / FK company·entity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기수(연도)별 회계마감 여부·마감일자. 마감연도의 전표·초기이월 변경을 잠그는 기준 테이블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마감관리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 — 주요 코드체계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코드체계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gl_type (계정구분)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자산 · 1 부채 · 2 자본 · 3 수익 · 4 매출원가 · 5 제조원가 · 6 용역원가 · 7 판매관리비 · 8 영업외수익 · 9 영업외비용 · 10 법인세 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gl_detail (계정성격)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보통계정 · 1 : 차감항목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gl_category1/2 · vat_gl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계정상세구분 : 표준 GL 상세분류 문자열(미지정 가능) · 부가가치세 구분 : 매입부가가치세 / 매출부가가치세 / 미지정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ledger_type (전표 타입)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일반전표 · 1 매입전표 · 2 매출전표 · 3 결산전표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 (차대변 구분)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: 차변 · 2 : 대변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approval_status (승인 상태)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승인 · N : 미승인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 (기초잔액 마감 구분)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마감 · N : 미마감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 status (은행/카드 사용여부)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 · 1 : 미사용 (finance_bank_account)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 (연도 회계마감 여부)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마감 · N : 미마감 (finance_closing) — 마감연도 전표·초기이월 변경 잠금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 — 참조/삭제 정책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38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41832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기초잔액·전표(및 contra_gl)에서 참조 중이면 삭제 불가 → 미사용 전환 안내(FR-GL-09). 미사용 계정은 신규 전표 계정 선택에서 제외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계정과목/전표 참조 시 삭제 제한(FR-Dim-09). Slot 재정렬/재매핑 금지 — 과거 전표 dimension1~5 의미 보존(FR-Dim-05)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전표(approval_status=Y)는 일반 수정/삭제 제한(FR-Ledger-12). 미승인 전표 Head 삭제 시 Detail 라인 동반 삭제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라인(bank_id)에서 참조 중이면 물리삭제 불가 → 미사용 전환(FR-Bank-06). 미사용 항목은 신규 전표 선택 제외·과거 전표 조회 유지. 카드번호는 항상 마스킹 표시(FR-Bank-02·04)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기초잔액(초기이월)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확정(closed=Y) 후 일반 수정 제한 — 확정해제는 관리자 권한, 연도마감 연도·마감생성분은 해제 불가(FR-OpenBal-07·08). 연도마감으로 생성된 차년도 이월은 closed=Y로 보호(FR-Close-08)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회계마감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finance_closing.closing=Y인 연도의 전표는 신규/수정/삭제/승인 불가·조회만 허용(FR-Close-11, FR-Ledger-16). 마감은 이른 연도부터 순차 실행하며 재마감 불가(FR-Close-02·03)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(1/5) — finance_GL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finance_GL (계정과목) — 7차 개정 기준 (23컬럼)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계정구분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자산 ~ 10 법인세 등 11종 코드(FR-GL-05)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gl_category1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계정상세구분 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표준 GL 계정상세분류 문자열 — 미지정 가능(FR-GL-05)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gl_category2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계정상세구분 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vat_gl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부가가치세 구분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매입부가가치세 / 매출부가가치세 / 미지정(FR-GL-05)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gl_detail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계정성격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보통계정, 1 : 차감항목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contra_gl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차감계정코드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finance_GL/gl_id (자기참조)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유효 계정코드 검증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사용, N : 미사용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은행계좌/카드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 3 은행/카드 입력 사용플래그(FR-GL-06)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관리항목 사용플래그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1 사용플래그(FR-GL-07)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2 사용플래그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3 사용플래그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4 사용플래그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5 사용플래그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84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지급/입금일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Layer 3 지급/입금일 입력 사용플래그 — N이면 라인 due_date 미저장(FR-GL-06, FR-Ledger-11)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(2/5) — finance_dimension · detail · open_balance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finance_dimension (관리항목 마스터)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사용, N : 미사용 (회사별 최대 5개, Slot 순차 부여 — FR-Dim-03·04)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tinyint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/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1~5. 회사 내 유일(UQ_dim_slot)·CHECK 1~5. 최초 등록 순서로 부여하며 재정렬하지 않는다 — 전표 dimension1~5 와의 매핑이 영속이어야 하기 때문이다(FR-Dim-05).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6609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finance_dimension_detail (관리항목 상세값)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finance_dimension/dimension_id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 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dimension_id 내 1부터 순차 부여(FR-Dim-07)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dimension_value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관리항목 내 중복 불가(FR-Dim-09) — 09 에서 유니크 인덱스 UX_dim_detail_value 로 DDL 승격했다(기존에는 프로시저 검증만 있었다).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39826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finance_open_balance (기초잔액/초기이월) — 구현 확정 기준 (11컬럼)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70916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company_year_id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/ 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system_year/company_year_id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차대변 구분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: 차변, 2 : 대변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은행계좌/카드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finance_bank_account/bank_id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은행/카드 보조잔액 — 계좌·카드 코드 통합 저장(FR-OpenBal-05)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보조잔액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보조잔액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numeric(18,2)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연도마감 자동생성 이월은 음수가 될 수 있다 — 09 에서 "&gt;= 0" CHECK 를 두지 않기로 확정했다(설계결정 D7).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구분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확정, N : 미확정 — 연도마감 생성분은 Y로 보호(FR-Close-08)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 출처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/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[09 신규] MANUAL : 수기 입력 / CLOSING : 연도 회계마감 자동생성. 마감해제 시 회수 대상을 특정하는 유일한 근거다 — 이 컬럼이 없으면 수기분과 자동생성분을 구분할 수 없다(FR-Close-09).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Malgun Gothic"/>
              </a:rPr>
              <a:t>※ finance_open_balance PK — 09 에서 신설했다. 선택 입력인 bank_id·client_id·vendor_id 는 NULL 을 그대로 PK 에 넣을 수 없어 bank_key/client_key/vendor_key = ISNULL(원본,'-') PERSISTED 계산컬럼으로 치환해 구성한다: PK(company_id, entity_id, company_year_id, gl_id, DRCR, bank_key, client_key, vendor_key). 위 표의 PK 표기는 이 계산컬럼을 통한 참여를 뜻한다.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(3/5) — finance_ledger_head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finance_ledger_head (전표 Head)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그룹·회사·전표일자 복합 PK 범위에서 1부터 1씩 증가(FR-Ledger-04)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제목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타입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일반전표, 1 매입전표, 2 매출전표, 3 결산전표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입력자 사번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등록 시 자동 기록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승인자 사번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시 기록(FR-Ledger-13)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insert_date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기록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시 갱신(FR-Ledger-12)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datetime2(0)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[09 개정] 승인은 감사 대상 행위라 일 단위로는 부족해 초 단위로 넓혔다. 업무일자인 insert_date·update_date 는 date 를 유지한다(설계결정 D8).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approval_status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상태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승인, N : 미승인 — 승인 전표는 일반 수정/삭제 제한(FR-Ledger-12)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(4/5) — finance_ledger_detail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2-6. finance_ledger_detail (전표 Detail 라인)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finance_ledger_head/ledger_date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finance_ledger_head/ledger_no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라인번호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전표키 복합 PK 범위에서 1부터 1씩 증가(FR-Ledger-05)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finance_GL/gl_id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사용중(Y) 계정만 선택(FR-Ledger-05)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차대변 구분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: 차변, 2 : 대변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금액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numeric(18,2)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0보다 커야 함(FR-Ledger-09)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은행계좌/카드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finance_bank_account/bank_id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 계정과목 bank_id 플래그 Y 시 Layer 3에서 사용중(0) 은행/카드 선택(FR-Ledger-15)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- 부서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system_team/Team_id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플래그 Y인 경우만 입력(FR-Ledger-07)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- 팟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system_pod/pod_id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- 직원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- 고객사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partner_client/client_id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 (Layer 2에서 요약 확인, FR-Ledger-05·07)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vendor_id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- 거래처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partner_vendor/vendor_id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거래처 플래그 Y인 경우 입력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1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Slot1 상세값만 선택(FR-Ledger-08)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2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Slot2 상세값만 선택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3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Slot3 상세값만 선택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4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Slot4 상세값만 선택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5 값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finance_dimension/line_no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Slot5 상세값만 선택. 거래처 지급정책 등 참조하여 자동계산(원본 Remark)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957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지급일/입금일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partner_term 규칙(EOM+N/CurMDD)으로 자동 계산 또는 권한자 직접 입력(FR-Ledger-11)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(5/5) — finance_bank_account · finance_closing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2-7. finance_bank_account (은행계좌/카드) — 신규 테이블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은행계좌/카드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그룹+회사+bank_id 중복 불가(FR-Bank-03·04)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bank_account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 계좌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 등록 시 입력, 카드 등록 시 공란. [09] 회사 내 계좌번호 중복 금지를 유니크 인덱스로 DDL 승격했다.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card_number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 시 입력, 계좌 등록 시 공란. 화면 표시는 뒤 4자리만 마스킹 노출한다(FR-Bank-02·04). [09] 회사 내 카드번호 중복 금지 + "둘 다 NULL" 금지 CHECK(CK_bank_one) 추가 — 원본 CK_bank_shape 는 "둘 다 입력"만 막아 빈 행이 합법이었다.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사용, 1 : 미사용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8039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2-8. finance_closing (연도 회계마감) — 신규 테이블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114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481519"/>
                <a:gridCol w="1580287"/>
                <a:gridCol w="444456"/>
                <a:gridCol w="987679"/>
                <a:gridCol w="1827207"/>
                <a:gridCol w="592608"/>
                <a:gridCol w="543224"/>
                <a:gridCol w="350626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company_year_id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system_year/company_year_id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대상 기수(연도)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마감, N : 미마감 — 행 없으면 미마감으로 표시(FR-Close-01)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마감일자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실행 시 서버 기준일자 기록(FR-Close-10)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은행/카드 규칙 :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계좌/카드 상호배타 입력·중복 제한·카드번호 마스킹·회사별 서버 격리(FR-Bank-02~05·08)    </a:t>
            </a:r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규칙 :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closing=Y 연도의 전표·초기이월 변경 잠금(FR-Close-11), 순차마감·재마감 불가(FR-Close-02·03)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(FINANCE 도메인)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: 필수 참조(Not Null FK) · 점선 : 선택 참조/플래그 연계 · 회색 상자 : 타 도메인 테이블(참조 관계 표시용)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5146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143000"/>
            <a:ext cx="249631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finance_GL (계정과목)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1472184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gl_id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gl_type · gl_detail · status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은행/카드·기본관리항목 6종 플래그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dimension1~5 Slot 플래그
</a:t>
            </a:r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676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contra_gl (차감계정, 자기참조)
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" y="3566160"/>
            <a:ext cx="249631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566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finance_dimension (관리항목)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" y="3895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dimension_id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dimension_name · status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5개 · Slot 1~5 매핑
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5303520"/>
            <a:ext cx="25146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" y="5303520"/>
            <a:ext cx="249631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5303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finance_dimension_detail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" y="563270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line_no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dimension_id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dimension_value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60520" y="1143000"/>
            <a:ext cx="29260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9664" y="1143000"/>
            <a:ext cx="29077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1143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finance_ledger_head (전표)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70248" y="1472184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ledger_date + ledger_no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· 타입 · 입력자/승인자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입력/수정/승인일 · 승인상태
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3566160"/>
            <a:ext cx="29260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69664" y="3566160"/>
            <a:ext cx="29077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finance_ledger_detail (전표 라인)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70248" y="3895344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line_on (+ gl_id)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ledger_date · ledger_no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gl_id → finance_GL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DRCR · amount · bank_id · due_date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관리항목: 부서/Pod/직원/고객사/거래처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dimension1~5 (Slot 상세값)
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321040" y="1051560"/>
            <a:ext cx="3108960" cy="960120"/>
          </a:xfrm>
          <a:prstGeom prst="roundRect">
            <a:avLst>
              <a:gd name="adj" fmla="val 4762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0184" y="1051560"/>
            <a:ext cx="309067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051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/ partner 참조 (타 도메인)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30768" y="13807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입력자·승인자·직원·부서·Pod·고객사·거래처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지급정책(term) → due_date 계산
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321040" y="2240280"/>
            <a:ext cx="31089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0184" y="2240280"/>
            <a:ext cx="30906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finance_bank_account (은행/카드)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30768" y="25694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bank_id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bank_name · 계좌/카드번호(배타)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(0 사용 / 1 미사용)
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321040" y="3703320"/>
            <a:ext cx="31089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30184" y="3703320"/>
            <a:ext cx="30906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finance_open_balance (초기이월)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30768" y="403250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gl_id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company_year_id → system_year
</a:t>
            </a:r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676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bank_id · client_id · vendor_id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DRCR · amount · closed
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21040" y="5212080"/>
            <a:ext cx="3108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30184" y="5212080"/>
            <a:ext cx="30906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finance_closing (연도 회계마감)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30768" y="554126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company_year_id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(Y/N) · closing_date
</a:t>
            </a:r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마감연도 전표·초기이월 잠금
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23560" y="2697480"/>
            <a:ext cx="914" cy="86868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760720" y="3017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(전표→라인)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017520" y="2377440"/>
            <a:ext cx="1143000" cy="164592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108960" y="30632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(계정→전표라인)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737360" y="2834640"/>
            <a:ext cx="914" cy="73152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1874520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연계 (Slot 1~5)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737360" y="4800600"/>
            <a:ext cx="914" cy="50292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874520" y="4983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(관리항목→상세값)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V="1">
            <a:off x="3017520" y="5120640"/>
            <a:ext cx="1143000" cy="64008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063240" y="5577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Slot 상세값 참조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086600" y="1554480"/>
            <a:ext cx="1234440" cy="914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132320" y="13075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입력자·관리항목·정책 참조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 flipV="1">
            <a:off x="7086600" y="2926080"/>
            <a:ext cx="1234440" cy="128016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6903720" y="33101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라인·초기이월 bank_id 참조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17520" y="1554480"/>
            <a:ext cx="5303520" cy="278892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875520" y="4983480"/>
            <a:ext cx="914" cy="22860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0058400" y="4974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잠금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7784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기초잔액 gl_id → 계정과목 (점선)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1480" y="65105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3-1. FINANCE 도메인 ERD — 계정 플래그가 Layer 3 입력을 제어하고, finance_closing이 마감연도의 전표·초기이월을 잠근다.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프로세스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4-1. 메뉴 구조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24128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1554480"/>
                <a:gridCol w="2743200"/>
                <a:gridCol w="1874520"/>
                <a:gridCol w="1874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Lv2 (메뉴)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테이블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finance_GL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FR-GL-01~10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UC-GL-01~06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finance_dimension (+detail)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FR-Dim-01~10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UC-Dim-01~06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 (+detail)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FR-Ledger-01~14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UC-Ledger-01~11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초기이월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finance_open_balance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UC-OpenBal-01~06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finance_bank_account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UC-Bank-01~06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SCR-FIN-06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finance_closing (+open_balance)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FR-Close-01~11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UC-Close-01~06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회계 기준정보 → 전표 프로세스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관리항목·은행/카드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719072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83664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3664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등록/생성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145536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0128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초기이월 등록·확정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(기수별)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72000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36592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6592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등록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(Layer 3 제어)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98464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63056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63056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차대변 검증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424928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9520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승인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851392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15984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15984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연도 회계마감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(순차)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0277856" y="3611880"/>
            <a:ext cx="164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442448" y="3611880"/>
            <a:ext cx="1261872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42448" y="3611880"/>
            <a:ext cx="126187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차년도 이월 생성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(closed=Y)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11480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4-3. 전표 라이프사이클 (FR-Ledger-04~13)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489204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892040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미승인 (N)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등록·수정·삭제 가능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743200" y="4892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108960" y="489204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08960" y="4892040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필수값·관리항목·차대변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394960" y="4892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760720" y="489204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60720" y="4892040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(Y)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approver·승인일 기록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046720" y="4892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12480" y="4892040"/>
            <a:ext cx="228600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0" y="4892040"/>
            <a:ext cx="2286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수정/삭제 제한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11480" y="571500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Slot 보존 원칙 :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 Slot은 최초 부여 후 재정렬/재매핑 금지 — 과거 전표 dimension1~5 의미 보존(FR-Dim-05). 중간 Slot 미사용 시에도 후속 Slot 유지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관리항목 입력 제어 :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계정과목의 기본 관리항목(부서/Pod/직원/고객사)·dimension1~5 플래그가 Y인 필드만 전표라인에서 활성화(FR-Ledger-07·08)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번호 부여 :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전표번호는 그룹·회사·일자 범위 순차(충돌 시 트랜잭션 내 재확인, UC-Ledger-02), 라인번호·관리항목 상세값 line_no도 1부터 순차
</a:t>
            </a:r>
            <a:pPr indent="0" marL="0">
              <a:lnSpc>
                <a:spcPts val="1600"/>
              </a:lnSpc>
              <a:buNone/>
            </a:pPr>
            <a:r>
              <a:rPr lang="en-US" sz="9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연도마감 잠금 : </a:t>
            </a:r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finance_closing.closing=Y 연도의 전표는 신규/수정/삭제/승인 불가·조회만 허용 — 화면 버튼 비활성 + API 서버검증 병행(FR-Close-11, FR-Ledger-16)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SCR-FIN-01 계정과목 관리 — 메인(2-Frame)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계정과목 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5595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559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4건 · 선택 : 10900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5595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46904" y="1120140"/>
            <a:ext cx="123444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11201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생성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18688" y="13990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계정코드/명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77640" y="1467612"/>
            <a:ext cx="10058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14676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0176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12664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계정구분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07024" y="1467612"/>
            <a:ext cx="8686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4456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03720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98080" y="1467612"/>
            <a:ext cx="7315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0624" y="1746504"/>
            <a:ext cx="4075298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1746504"/>
            <a:ext cx="3928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목록 (좌측 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31546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14630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계정구분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보통예금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외상매출금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대손충당금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판매관리비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81100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광고선전비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4495922" y="1746504"/>
            <a:ext cx="7244974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69074" y="1746504"/>
            <a:ext cx="709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상세 (우측 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33082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42327"/>
              </a:tblGrid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대손충당금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계정구분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자산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계정상세구분 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당좌자산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계정상세구분 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매출채권 관련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부가가치세 구분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(미지정)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계정성격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차감항목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차감계정코드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 · 외상매출금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· 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64129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68007"/>
              </a:tblGrid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관리항목1 (캠페인)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관리항목2 (채널)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관리항목3~5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(미등록 Slot 비활성)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지급/입금일 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Shape 44"/>
          <p:cNvSpPr/>
          <p:nvPr/>
        </p:nvSpPr>
        <p:spPr>
          <a:xfrm>
            <a:off x="4495922" y="1746504"/>
            <a:ext cx="914" cy="38130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11480" y="58978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5-1-A. 계정과목 관리 — 좌측 Head(계정구분/계정코드/계정과목) · 우측 Detail 2-Frame 구조 (FR-GL-01 보완, UC-GL-01)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관리 — 번호별 설명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계정코드/명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전체/조건 목록, Enter Exact 후 미일치 시 Like 팝업 — 동일 그룹/회사 범위(FR-GL-10, UC-GL-06). 조건 : 그룹·회사·계정코드/명·계정구분·계정상세구분1/2·부가가치세 구분·사용여부 — 상세구분·부가세는 미지정 값 포함 조건조회 가능(FR-GL-02).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좌측 Head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계정구분·계정코드·계정과목 3개 컬럼으로 목록 표시 — FR-GL-01(코드·명)에 계정구분 컬럼을 추가한 설계 보완. 행 선택 시 우측 Detail 즉시 갱신, 미저장 변경 시 공통 보호 확인(FR-GL-03).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우측 Detail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필수 : 계정코드·계정과목명·계정구분·계정성격·사용여부, 동일 회사 내 계정코드 중복 불가(FR-GL-04). 수정 시 그룹·회사·gl_id 읽기전용(FR-GL-08).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구분·상세·부가세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계정구분 0 자산~10 법인세 등 11종. 계정상세구분1/2 : 표준 GL 상세분류 문자열(선택 입력·미지정 가능). 부가가치세 구분 : 매입부가가치세/매출부가가치세/미지정. 계정성격 : 0 보통 / 1 차감항목(FR-GL-04·05).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차감계정코드 (contra_gl)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 추가] 차감 관계로 연계할 계정을 동일 회사 계정 범위에서 F2/Enter 선택(자기참조). 계정성격=차감항목일 때 입력 — 예 : 대손충당금(10900) → 외상매출금(10800). 자기 자신 선택 불가, 미사용 계정 선택 제외.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 3 사용플래그 7종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은행/카드(bank_id)·부서/Pod/직원/고객사/거래처·지급/입금일(due_date) — 실제 코드/일자 저장이 아닌 사용여부 플래그(FR-GL-06). Y인 항목만 전표 Layer 3 입력 활성화 : bank_id=Y → finance_bank_account 선택, due_date=Y → 지급/입금일 입력 활성(FR-Ledger-07·11·15).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1~5 플래그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 1~5와 순서 매핑(dimension1=Slot1 …, FR-GL-07). 등록된 Slot의 관리항목명을 레이블로 표시, 미등록 Slot 비활성(UC-GL-03).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생성 (툴바)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GL seed 기준 일괄 생성/재생성 버튼(FR-GL-11) — 다음 슬라이드 참조. 현재 로그인 그룹/회사 대상 고정, 전표 1건이라도 존재하면 사용 불가(FR-GL-12).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5166360"/>
            <a:ext cx="11338560" cy="59436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상태 변경/삭제(UC-GL-05) : 미사용 계정은 신규 전표 계정 선택 팝업에서 제외. 기초잔액·전표에서 참조 중인 계정은 삭제 불가 — 미사용 전환 안내(FR-GL-09). contra_gl로 참조되는 계정도 삭제 전 참조 검증 대상에 포함.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생성 — 표준 GL 일괄 생성/재생성 (화면 5-1-C)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5778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" y="914400"/>
            <a:ext cx="555955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생성 확인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" y="2414016"/>
            <a:ext cx="555955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43984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실행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188720"/>
            <a:ext cx="5358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3D4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[FST · FST-KR] 의 기존 계정과목이 모두 삭제되고 표준 계정과목으로 재생성됩니다.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: 현재 로그인 그룹/회사 (변경 불가) · 원본 : 시스템 설치 시 적재된 표준 GL seed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계속하시겠습니까?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914400"/>
            <a:ext cx="53949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914400"/>
            <a:ext cx="537667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914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계정과목 생성 불가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300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64224" y="2414016"/>
            <a:ext cx="537667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27080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27080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64808" y="1188720"/>
            <a:ext cx="5175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회사에 전표가 존재하여 계정과목을 생성할 수 없습니다.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12건 존재 (승인여부·타입 무관). 계정과목 생성은 전표가 없는 초기 상태에서만 가능합니다. (FR-GL-12)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6324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확인·실행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로그인 세션의 그룹/회사 대상 고정 — 사용자가 대상을 임의 변경 불가(FR-GL-11). 확인 후 ① 전표 존재 최종확인 → ② 기존 finance_GL 전체 삭제 → ③ 표준 GL seed 일괄 INSERT를 하나의 트랜잭션으로 처리. 오류(누락·중복·제약조건) 시 전체 ROLLBACK으로 기존 계정과목 보존(FR-GL-13·14, UC-GL-07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존재 차단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finance_ledger_head에 현재 그룹/회사 전표가 1건이라도 존재하면 버튼 비활성 또는 사용불가 안내 — 승인여부·전표타입 무관(FR-GL-12). API/서버에서도 동일 조건 재검증하여 우회 실행 차단(UC-GL-08).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 데이터 범위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원본은 GL 탭 기준으로 설치 시 적재·보존된 seed — gl_id·gl_name·gl_type·gl_category1/2·vat_gl·gl_detail·contra_gl·status·bank_id·기본 관리항목·dimension1~5·due_date 플래그를 그대로 복제, 그룹/회사만 로그인 세션 값으로 치환(FR-GL-13). 성공 후 좌측 Head 재조회.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1148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프로세스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[계정과목 생성]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920240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39696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39696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존재 확인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(1건↑ 차단)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02736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22192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22192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확인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285232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04688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04688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GL 삭제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967728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187184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87184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seed INSERT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650224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869680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69680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COMMIT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(실패 시 ROLLBACK)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332720" y="5669280"/>
            <a:ext cx="219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552176" y="566928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552176" y="5669280"/>
            <a:ext cx="1463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재조회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SCR-FIN-02 관리항목 관리 — 메인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관리항목 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5079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5079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2건 · 선택 : D001 (Slot 1)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5079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18688" y="13990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 코드/명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1467612"/>
            <a:ext cx="10972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33672" y="146761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2180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32704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27064" y="1467612"/>
            <a:ext cx="7315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관리항목 마스터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3749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1554480"/>
                <a:gridCol w="7315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Slot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(미등록 — 신규 등록 시 순차 부여)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080760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53912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상세값 목록 (Detail) — D001 캠페인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2075688"/>
          <a:ext cx="3566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9144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값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S/S 신제품 런칭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인플루언서 공동구매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캠페인(연간)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39"/>
          <p:cNvSpPr/>
          <p:nvPr/>
        </p:nvSpPr>
        <p:spPr>
          <a:xfrm>
            <a:off x="6080760" y="1746504"/>
            <a:ext cx="914" cy="276148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" y="48463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5-2-A. 관리항목 Head/상세값 Detail (UC-Dim-01)</a:t>
            </a:r>
            <a:endParaRPr lang="en-US" sz="9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2120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조회조건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그룹·회사·관리항목 코드/명·사용여부(FR-Dim-02). F2/Enter는 동일 회사·선택 Slot 범위(FR-Dim-10).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마스터 (Head)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최대 5개(FR-Dim-03), 최초 등록 순서대로 Slot 1~5 순차 부여(FR-Dim-04). Slot은 재정렬/재매핑 금지, 중간 미사용 시에도 유지(FR-Dim-05). 5개 등록 시 신규 차단(UC-Dim-02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상세값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line_no는 dimension_id 내 1부터 순차(FR-Dim-07). 동일 관리항목 내 중복 값 차단(FR-Dim-09). dimension_id·Slot·line_no는 수정 불가, 명/상태/값만 수정(FR-Dim-08).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SCR-FIN-03 전표관리 — 메인(3-레이어)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전표관리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669280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6692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2건 · 선택 : 2026-08-10 / 3 · 라인 2 선택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66928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5943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3736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21992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9424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27248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전표일자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21608" y="1467612"/>
            <a:ext cx="13716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4676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2026-08-01 ~ 08-31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11496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2392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전표타입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1675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67728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승인상태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62088" y="1467612"/>
            <a:ext cx="7315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0624" y="1746504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1746504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1 · 전표 헤더 (Head) — 행 클릭 시 레이어 2 갱신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48256"/>
          <a:ext cx="6583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48640"/>
                <a:gridCol w="2377440"/>
                <a:gridCol w="868680"/>
                <a:gridCol w="105156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제목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라이언커머스 8월 대행 매출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매출전표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E1002 강석천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사무실 임차료 지급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일반전표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E1002 강석천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420624" y="2734056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3776" y="2734056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2 · 전표 라인 (Detail) — 2026-08-10 / 3 · 행 클릭 시 레이어 3 갱신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3035808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1554480"/>
                <a:gridCol w="640080"/>
                <a:gridCol w="1188720"/>
                <a:gridCol w="17373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차대구분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외상매출금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용역매출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25500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부가세예수금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6" name="Text 42"/>
          <p:cNvSpPr/>
          <p:nvPr/>
        </p:nvSpPr>
        <p:spPr>
          <a:xfrm>
            <a:off x="8449056" y="3035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76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차변합계 33,000,000 = 대변합계 33,000,000 · 차액 0 </a:t>
            </a:r>
            <a:pPr algn="r" indent="0" marL="0"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420624" y="4023360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3776" y="4023360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3 · 은행/카드 · 관리항목 · 지급/입금일 — 라인 2 (계정 40100 용역매출 : 부서·직원·고객사·관리항목1·2·지급/입금일 Y / 은행·Pod·거래처 N)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⑥</a:t>
            </a:r>
            <a:endParaRPr lang="en-US" sz="85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" y="4334256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59024"/>
              </a:tblGrid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플래그 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· 그로스마케팅팀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·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· 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85488" y="4334256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584704"/>
              </a:tblGrid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플래그 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플래그 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(Slot1)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S/S 신제품 런칭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(Slot2)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인스타그램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13192" y="4334256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630424"/>
              </a:tblGrid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관리항목3~5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(미등록 Slot 비활성)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지급/입금일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(수금정책 미연결)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 45"/>
          <p:cNvSpPr/>
          <p:nvPr/>
        </p:nvSpPr>
        <p:spPr>
          <a:xfrm>
            <a:off x="411480" y="600760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5-3-A. 전표관리 3-레이어 구조 — 헤더 → 라인(차대·금액·고객사) → 은행/카드·관리항목·지급/입금일 (UC-Ledger-01·04·05·12)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전표관리 (3-레이어) — 번호별 설명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버튼 (툴바)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전표관리 전용 툴바 확장. 승인권한 사용자가 미승인 전표 선택 후 클릭 → 검증 통과 시 approver_Id·approved_date·approval_status=Y 기록(FR-Ledger-13). 승인 전표는 일반 수정/삭제 제한(FR-Ledger-12).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조회조건바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그룹·회사·전표일자 범위·전표번호·전표타입·입력자·승인상태(FR-Ledger-01). 선택형 필드는 공통 F2/Enter 규칙(FR-Ledger-14).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 1 · 전표 헤더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 목록. 헤더 행 클릭 → 레이어 2에 해당 전표의 라인 출력(FR-Ledger-02·03). 신규 시 전표일자 입력 → 동일 그룹·회사·일자의 다음 ledger_no 자동 부여, 입력자/입력일 기록, 승인상태 N(FR-Ledger-04).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 2 · 전표 라인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헤더의 라인을 라인번호·계정코드/명·차대구분·금액·고객사 중심으로 표시 — 라인 단위 차대·금액·고객사를 한눈에 확인. 라인 행 클릭 → 레이어 3 갱신. 라인 추가 시 line_on 순차 부여(FR-Ledger-05).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차대변 합계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 2 상단에 DRCR별 합계·차액 실시간 표시. 차변합계=대변합계일 때만 승인 가능(FR-Ledger-10, UC-Ledger-08).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레이어 3 · 은행/카드·관리항목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라인의 계정과목에 설정된 항목만 관리 — finance_GL 플래그(bank_id·부서/Pod/직원/고객사/거래처·dimension1~5)가 Y인 필드만 활성(FR-Ledger-06·07·08). bank_id=Y이면 동일 회사의 사용중(status=0) finance_bank_account만 선택하여 라인 bank_id에 저장(FR-Ledger-15, UC-Ledger-12). 계정 변경으로 Y→N이 되면 입력영역 비활성·값 미저장. 미등록 Slot·플래그 N 필드는 비활성.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지급/입금일 (레이어 3)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due_date 플래그가 Y인 라인만 입력영역 활성(FR-Ledger-11). 원천 거래의 partner_term 규칙(EOM+N/CurMDD)으로 자동 계산, 정책 미연결 시 권한자 직접 입력(UC-Ledger-07). N이면 비활성·라인 due_date 미저장.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5349240"/>
            <a:ext cx="11338560" cy="64008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3-레이어 흐름 : 헤더 선택 → 라인(차대·금액·고객사) → 라인 선택 → 관리항목·지급/입금일. 미승인 전표만 수정/삭제 가능(FR-Ledger-12). 마감연도(finance_closing.closing=Y) 전표는 신규/수정/삭제/승인 불가·조회만 허용 — 버튼 비활성+서버 검증(FR-Ledger-16, UC-Ledger-13).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3 편집 — 계정과목 선택 시 관리항목 입력 제어 (화면 5-3-B)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전표관리 — 라인 편집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2026-08-10 / 3 · 신규 라인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38221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38221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: 라인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38221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수정 — 저장되지 않음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1399032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2 라인 선택 : 라인 2 · 레이어 3 편집 — 계정 81100 광고선전비 (은행/카드 Y · 부서 Y · 직원 Y · 고객사 Y · 관리항목1 Y)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" y="1746504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752344"/>
              </a:tblGrid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81100 · 광고선전비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차변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5,500,000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1746504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89504"/>
              </a:tblGrid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· 그로스마케팅팀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③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·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· 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82712" y="1746504"/>
          <a:ext cx="9144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569464"/>
              </a:tblGrid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B002 · 법인카드 1234-56**-****-78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(Slot1)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S/S 신제품 런칭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/ 채널(Slot2)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플래그 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/>
          <p:nvPr/>
        </p:nvSpPr>
        <p:spPr>
          <a:xfrm>
            <a:off x="411480" y="4160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5-3-B. 레이어 3(관리항목) 편집모드 — 계정과목 플래그 기반 입력 제어 (UC-Ledger-04·05)</a:t>
            </a:r>
            <a:endParaRPr lang="en-US" sz="900" dirty="0"/>
          </a:p>
        </p:txBody>
      </p:sp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262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플래그 로드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gl_id 선택 즉시 finance_GL의 부서/Pod/직원/고객사·dimension1~5 플래그 로드(FR-Ledger-06). 계정 변경 시 기존 관리항목 값 유효성 재검증, 미허용 값은 확인 후 초기화(UC-Ledger-04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 선택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— 동일 회사의 사용중 계정만(FR-Ledger-05). 미사용/타 회사 계정, gl_id 미입력, 금액 0 이하 저장 차단(UC-Ledger-03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필드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플래그 Y 필드만 활성 — 동일 그룹/회사 범위 F2/Enter 선택(FR-Ledger-07·14). Slot 필드 레이블은 실제 관리항목명 표시, 해당 Slot의 상세값만 선택(FR-Ledger-08).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· 비활성 필드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 플래그 Y → 동일 회사의 사용중(0) 은행/카드만 F2/Enter 선택, 카드번호 마스킹 표시(FR-Ledger-15, UC-Ledger-12). 플래그 N·미등록 Slot은 비활성화, 신규 입력 차단(UC-Ledger-05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차대변 검증 · 전표 승인 — 화면 5-3-C · 데이터 변경 프로세스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57784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" y="960120"/>
            <a:ext cx="555955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불가 — 차대변 불일치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7150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" y="2414016"/>
            <a:ext cx="555955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234440"/>
            <a:ext cx="5358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차변합계와 대변합계가 일치하지 않습니다. 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
</a:t>
            </a:r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차변합계 33,000,000 · 대변합계 30,000,000 · 차액 3,000,000
</a:t>
            </a:r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라인을 수정한 후 다시 승인을 요청하세요. (FR-Ledger-10)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548640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18504" y="96012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승인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47572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18504" y="241401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0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204704" y="2459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04704" y="2459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19088" y="1234440"/>
            <a:ext cx="5266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D4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</a:t>
            </a:r>
            <a:pPr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2026-08-10 / 3 을(를) 승인하시겠습니까? 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
</a:t>
            </a:r>
            <a:pPr indent="0" marL="0">
              <a:lnSpc>
                <a:spcPts val="1500"/>
              </a:lnSpc>
              <a:buNone/>
            </a:pPr>
            <a:r>
              <a:rPr lang="en-US" sz="850" dirty="0">
                <a:solidFill>
                  <a:srgbClr val="0676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 33,000,000 = 대변 33,000,000 (균형 확인)
</a:t>
            </a:r>
            <a:pPr indent="0" marL="0">
              <a:lnSpc>
                <a:spcPts val="15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후에는 일반 수정/삭제가 제한됩니다.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6324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검증 (저장/승인)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라인의 gl_id·DRCR·amount + 은행/카드·관리항목·due_date 유효성 검증(UC-Ledger-08) : bank_id=Y 라인은 유효한 사용중 은행/카드 필수, due_date=N 라인은 due_date 미저장 확인, 활성 관리항목은 해당 Slot/회사 범위 값만 허용(FR-Ledger-09). 이후 DRCR별 합계 검증 — 불일치 시 승인하지 않고 차변합계·대변합계·차액 안내(FR-Ledger-10).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확정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통과 전표만 승인 — approver_Id·approved_date 기록, approval_status=Y(FR-Ledger-13). 승인 전표는 일반 수정모드 전환·삭제 불가(UC-Ledger-09·10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114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처리 프로세스 요약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(번호 자동)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920240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157984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57984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추가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(계정→플래그 제어)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621024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58768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58768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due_date 계산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(정책 연계)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21808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559552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59552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(미승인)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022592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260336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60336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차대변 검증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723376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961120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0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(Y)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0424160" y="480060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80060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800600"/>
            <a:ext cx="1463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수정/삭제 제한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80644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미승인 전표 삭제(UC-Ledger-10) : 승인상태 확인 → 미승인이면 Detail 라인과 Head를 함께 삭제. 승인 전표는 삭제하지 않는다.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5-5.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SCR-FIN-05 은행/카드 관리 — 메인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93192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은행/카드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은행/카드 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46227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46227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B002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46227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08960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19856" y="1399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은행/카드 코드·명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53128" y="1467612"/>
            <a:ext cx="10972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146761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78424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72784" y="1467612"/>
            <a:ext cx="7315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1746504"/>
            <a:ext cx="5886541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1746504"/>
            <a:ext cx="57402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은행계좌/카드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54864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188720"/>
                <a:gridCol w="1463040"/>
                <a:gridCol w="1554480"/>
                <a:gridCol w="6400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 계좌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 주거래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123456-04-567890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법인카드(신한)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1234-56**-****-78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급여계좌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1002-***-789012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307165" y="1746504"/>
            <a:ext cx="5433731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80317" y="1746504"/>
            <a:ext cx="5287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은행/카드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4325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70691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법인카드(신한)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 계좌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(비활성 — 카드 유형)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1234-56**-****-78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39"/>
          <p:cNvSpPr/>
          <p:nvPr/>
        </p:nvSpPr>
        <p:spPr>
          <a:xfrm>
            <a:off x="6307165" y="1746504"/>
            <a:ext cx="914" cy="271576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" y="48006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5-5-A. 은행/카드 관리 (FR-Bank-01~05, UC-Bank-01~04)</a:t>
            </a:r>
            <a:endParaRPr lang="en-US" sz="9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16636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그룹/회사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세션·권한 범위로 적용(FR-Bank-01). 모든 조회·등록·수정·전표선택은 서버에서 회사별 격리 검증(FR-Bank-08).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(Head)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그룹/회사의 finance_bank_account만 표시. 카드번호는 목록·검색에서 항상 마스킹(FR-Bank-02). F2/Enter 검색 지원(FR-Bank-07).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식별값(그룹·회사·bank_id) 수정 불가. 명칭·계좌/카드번호·사용여부만 권한에 따라 수정(FR-Bank-05). 그룹+회사+코드 및 동일 계좌/카드번호 중복 제한(FR-Bank-03·04).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 (계좌/카드)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 : bank_account 입력·card_number 공란, 카드 : 그 반대 — 유형 전환 시 반대 필드 비활성, 동시 입력 차단(FR-Bank-05, UC-Bank-02·03). 전표 참조 중 삭제 불가 → 미사용 전환(FR-Bank-06, UC-Bank-05).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SCR-FIN-04 초기이월 입력 — 메인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초기이월 입력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초기이월 입력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8737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8737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: Y2026 (8기/2026) · 5행 · 미마감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8737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편집 — 저장되지 않음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확정해제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14984" y="1467612"/>
            <a:ext cx="5943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146761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21992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9424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27248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*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1467612"/>
            <a:ext cx="12344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146761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Y2026 · 8기/2026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6460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75504" y="13990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계정코드/명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34456" y="1467612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146761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76872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차대구분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71232" y="1467612"/>
            <a:ext cx="6858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98664" y="14676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85048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마감여부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79408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0624" y="1746504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1746504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초기이월 입력 그리드 — 사용중 계정과목 기준 (finance_open_balance)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34440"/>
                <a:gridCol w="640080"/>
                <a:gridCol w="1234440"/>
                <a:gridCol w="1417320"/>
                <a:gridCol w="1371600"/>
                <a:gridCol w="1143000"/>
                <a:gridCol w="457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차대구분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초기이월금액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보통예금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B001 KB주거래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외상매출금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외상매출금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C002 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25300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외상매입금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V001 크리에이터플러스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33100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자본금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4" name="Text 41"/>
          <p:cNvSpPr/>
          <p:nvPr/>
        </p:nvSpPr>
        <p:spPr>
          <a:xfrm>
            <a:off x="530352" y="3337560"/>
            <a:ext cx="11045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76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차변합계 78,000,000 = 대변합계 78,000,000 · 차액 0 </a:t>
            </a:r>
            <a:pPr indent="0" marL="0"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③ 은행/카드·고객사·거래처 = 보조잔액(선택 입력) · ④ 동일 회사/기수/계정/차대/은행·카드/고객사/거래처 조합 중복 불가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5212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5-4-A. 초기이월 입력 — 수기 입력분과 연도마감 자동생성분(closed=Y)을 동일 화면에서 조회 (FR-OpenBal-01~06)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11480" y="5577840"/>
            <a:ext cx="11338560" cy="64008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진입 조건 : 회사 기수 등록 후 사용 가능(FR-OpenBal-02). 그룹 → 회사 → 기수 순 종속 선택이며 미등록 기수에는 입력 불가. 신규 기수 등록 직후 본 메뉴로 이동/선택 가능. 조회 시 사용중 계정과목 목록 + 기존 저장값 로드(FR-OpenBal-03).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초기이월 입력 — 번호별 설명 · 확정/확정해제 (화면 5-4-B)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→ 회사 → 기수 순 종속 선택(FR-OpenBal-02). system_year에 존재하는 기수만 F2/Enter 선택. 조회조건 : 그룹·회사·기수·계정코드/명·차대구분·마감여부(FR-OpenBal-01).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그리드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그룹/회사의 사용중 계정과목 기준 행 제공, 기존 저장값 로드(FR-OpenBal-03). 계정코드·계정과목명·차대구분·고객사·거래처·초기이월금액·마감여부 표시. 계정 추가는 F2/Enter — 미사용 계정 제외(FR-OpenBal-09).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보조잔액 (은행/카드·고객사·거래처)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bank_id/client_id/vendor_id — bank_id는 계좌·카드 코드 통합 저장. 동일 그룹/회사의 유효한 은행/카드·고객사·거래처만 F2/Enter 선택, 미사용 항목 제외(FR-OpenBal-05·09). 불필요 시 공란, 같은 계정에 조합별 복수 행 가능.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금액/차대구분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 1 차변/2 대변, amount 0 이상(FR-OpenBal-04). 0원 행 저장 제외 가능. 동일 회사/기수/계정/차대구분/은행·카드/고객사/거래처 조합 중복 저장 차단. 연도마감 자동생성 금액은 FR-Close-06~08 계산규칙 적용.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차대변 합계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회사/기수 전체 초기이월의 DRCR별 합계·차액 표시(FR-OpenBal-06). 미확정 저장은 불일치 허용 가능하나 확정은 불허(UC-OpenBal-04).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확정/확정해제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[확정] : 검증 통과 시 수기 초기이월 closed=Y — finance_closing의 연도 회계마감과 별개 개념(FR-OpenBal-07). [확정해제] : 관리자 전용, 해당 연도가 finance_closing.closing=Y이거나 연도마감으로 자동 생성된 초기이월이면 해제 불가(FR-OpenBal-08, UC-OpenBal-06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4617720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20624" y="461772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6" name="Text 3"/>
          <p:cNvSpPr/>
          <p:nvPr/>
        </p:nvSpPr>
        <p:spPr>
          <a:xfrm>
            <a:off x="521208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불가 — 차대변 불일치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778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0624" y="584301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74920" y="5888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5888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21208" y="4892040"/>
            <a:ext cx="526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차변합계와 대변합계가 일치하지 않아 확정할 수 없습니다.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 78,000,000 · 대변 66,000,000 · 차액 12,000,000 — 오류행을 확인하세요. (FR-OpenBal-06)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4617720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2784" y="461772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4" name="Text 11"/>
          <p:cNvSpPr/>
          <p:nvPr/>
        </p:nvSpPr>
        <p:spPr>
          <a:xfrm>
            <a:off x="6373368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확정해제 제한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4300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72784" y="584301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27080" y="58887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27080" y="58887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373368" y="4892040"/>
            <a:ext cx="526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연도가 회계마감(closing=Y) 상태이거나 연도마감 자동생성분입니다.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회계마감 연도·마감 자동생성 초기이월은 확정해제할 수 없습니다. (FR-OpenBal-08, UC-OpenBal-06 예외)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SCR-FIN-06 마감관리 — 메인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70332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FINANCE &gt; 마감관리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23367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23367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3건 · 체크 : Y2025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23367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18688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마감여부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13048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0624" y="1746504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1746504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기수·연도별 회계마감 현황 (system_year × finance_closing)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57400"/>
          <a:ext cx="7589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68680"/>
                <a:gridCol w="640080"/>
                <a:gridCol w="777240"/>
                <a:gridCol w="777240"/>
                <a:gridCol w="1051560"/>
                <a:gridCol w="29260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2025-03-31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완료 — 재마감/체크 불가 ③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대상 체크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선행연도(2025) 미마감 — 후행 마감 제한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11480" y="45720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5-6-A. 연도별 마감 현황 · 대상 체크 후 [마감] 실행 (FR-Close-01·02, UC-Close-01·02)</a:t>
            </a:r>
            <a:endParaRPr lang="en-US" sz="9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93776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[마감] (툴바)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체크한 미마감 연도를 actual_year 오름차순으로 순차 실행(FR-Close-02). 실행 전 연도별 선행조건 검증 — 다음 슬라이드 프로세스 참조.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현황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system_year와 finance_closing 연계 표시 : 기수코드·기수·연도·마감여부·마감일자(FR-Close-01). finance_closing 행이 없으면 미마감(N)·마감일자 공란.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 완료 연도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closing=Y 연도는 체크 불가·재마감 불가(FR-Close-02). 해당 연도 전표·초기이월은 조회만 허용(FR-Close-11).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체크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미마감 연도만 체크 가능. 차년도 기수(system_year) 등록이 선행되어야 함(FR-Close-03).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순차마감 제한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이른 연도가 미마감이면 후행 연도 마감 제한(FR-Close-03, UC-Close-06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회계마감 — 이월 계산규칙 · 검증 · 트랜잭션 (화면 5-6-B)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11338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394960"/>
                <a:gridCol w="128016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 (gl_type)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차년도 이월잔액 계산식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이월 방향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단위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 (0)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전년도 이월 잔액 + 당해년도 차변 합계 − 당해년도 대변 합계 (FR-Close-06)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DRCR=1 차변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gl_id + bank_id + client_id + vendor_id 조합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부채 (1) · 자본 (2)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전년도 이월 잔액 + 당해년도 대변 합계 − 당해년도 차변 합계 (FR-Close-07)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DRCR=2 대변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〃 (조합별 집계, 잔액 0 조합은 미생성)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수익~법인세 (3~10)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차년도 이월 대상 제외 (FR-Close-05)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2670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— 보통예금(자산·B001) : 전년 이월 50,000,000 + 당해 승인전표 차변 120,000,000 − 대변 90,000,000 = 80,000,000 → 차년도 차변 이월(closed=Y)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1480" y="301752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0624" y="301752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7" name="Text 4"/>
          <p:cNvSpPr/>
          <p:nvPr/>
        </p:nvSpPr>
        <p:spPr>
          <a:xfrm>
            <a:off x="521208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불가 — 미승인 전표 존재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5778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0624" y="405993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41056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41056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21208" y="3291840"/>
            <a:ext cx="526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2025년에 미승인 전표 3건이 존재하여 마감할 수 없습니다.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잔액계산은 승인(Y) 전표만 포함합니다. 미승인 전표를 승인 또는 정리한 후 다시 실행하세요. (FR-Close-04)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01752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72784" y="301752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5" name="Text 12"/>
          <p:cNvSpPr/>
          <p:nvPr/>
        </p:nvSpPr>
        <p:spPr>
          <a:xfrm>
            <a:off x="6373368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중단 — 차년도 초기이월 존재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43000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72784" y="405993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27080" y="41056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27080" y="41056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73368" y="3291840"/>
            <a:ext cx="5266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차년도(Y2026)에 초기이월 데이터가 이미 존재합니다.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구분 컬럼이 없어 자동 덮어쓰기를 하지 않습니다. 기존 데이터 확인/정리 후 다시 실행하세요. (FR-Close-09)</a:t>
            </a:r>
            <a:endParaRPr lang="en-US" sz="12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53712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대상·차년도 기수 존재(FR-Close-03) ② 선행연도 마감 완료 ③ 대상연도 미승인 전표 없음 — 승인(Y) 전표만 잔액계산 포함(FR-Close-04) ④ 차년도 초기이월 미존재(FR-Close-09). 하나라도 실패 시 해당 연도 마감 중단·사유 안내.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트랜잭션 처리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사전검증 → 잔액산출 → 차년도 open_balance INSERT(closed=Y) → finance_closing INSERT/UPDATE(closing=Y, closing_date=서버일자)를 단일 트랜잭션으로 — 실패 시 전체 ROLLBACK(FR-Close-08·10, UC-Close-02·05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대상연도 체크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148840" y="592531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8296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8296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선행조건 검증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(기수·순차·승인·기존이월)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059936" y="592531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279392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279392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조합별 잔액 산출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(자산/부채·자본)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5971032" y="592531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90488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190488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차년도 이월 INSERT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(closed=Y)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882128" y="592531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01584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01584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closing=Y 기록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9793224" y="5925312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10012680" y="5925312"/>
            <a:ext cx="1691640" cy="603504"/>
          </a:xfrm>
          <a:prstGeom prst="roundRect">
            <a:avLst>
              <a:gd name="adj" fmla="val 7576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0012680" y="5925312"/>
            <a:ext cx="16916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전표·초기이월 잠금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6-1. 공통 · 6-2. 계정과목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이벤트 (SYSTEM 편 EVT-COM-01~12 전 화면 준용 — 요약)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툴바/Head/조건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조회·신규·수정·저장·삭제·취소, Head/Detail 연동, F2/Enter 검색, 상위조건 종속 초기화, 미저장 보호 — SYSTEM 편 6-1과 동일 적용.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FR-UI-01~07 / UC-UI-01~05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13969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SCR-FIN-01 계정과목 관리</a:t>
            </a:r>
            <a:endParaRPr lang="en-US" sz="1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50592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좌측 Head 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Row 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우측 Detail 즉시 갱신. 미저장 변경 시 보호 확인.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FR-GL-03 / UC-GL-01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계정코드/명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범위 Exact→Like 팝업.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FR-GL-10 / UC-GL-06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필수값+코드 중복+계정구분/성격 코드 검증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FR-GL-04·05 / UC-GL-02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차감계정코드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[추가] 동일 회사 사용중 계정에서 선택(자기참조). 자기 자신 선택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FR-GL-04 연계 / UC-GL-02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사용플래그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은행/카드·부서/Pod/직원/고객사/거래처·지급/입금일 + dimension1~5(Slot 매핑) 설정. 미등록 Slot 비활성.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FR-GL-06·07 / UC-GL-03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그룹·회사·gl_id 읽기전용. 명/구분/성격/상태·플래그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FR-GL-08 / UC-GL-04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[삭제]/상태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기초잔액·전표(및 contra_gl) 참조 검증 → 참조 시 미사용 전환 안내. 미사용 계정은 신규 전표 선택 제외.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FR-GL-09 / UC-GL-05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EVT-F01-08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[계정과목 생성]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존재 확인(1건↑ 차단) → 사용자 확인 → 기존 GL 삭제+표준 seed INSERT 트랜잭션. 실패 시 ROLLBACK.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FR-GL-11~14 / UC-GL-07·08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6-3. 관리항목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SCR-FIN-02 관리항목 관리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[신규](마스터)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등록 수·Slot 확인 → 5개면 차단, 아니면 다음 Slot 순차 부여.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FR-Dim-03·04·06 / UC-Dim-02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[저장](마스터)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필수값+중복코드 검증 → INSERT. Slot 재정렬/재매핑 금지.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FR-Dim-05·06 / UC-Dim-02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[상세값 추가]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line_no 순차 부여, dimension_value 입력 → 동일 관리항목 내 중복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FR-Dim-07·09 / UC-Dim-03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dimension_id·Slot·line_no 변경 불가. 명/상태/값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FR-Dim-08 / UC-Dim-04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[삭제]/상태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계정과목/전표 참조 검증 → 참조 시 차단·미사용 전환. 과거 전표 의미가 바뀌는 재매핑 금지.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FR-Dim-05·09 / UC-Dim-05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EVT-F02-06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관리항목/상세값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회사·선택 Slot/dimension 범위 Exact→Like. 상위조건 없으면 팝업 미표시.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FR-Dim-10 / UC-Dim-06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6-4. 전표관리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SCR-FIN-03 전표관리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[신규](Head)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전표일자·제목·타입 입력 → 동일 그룹·회사·일자 다음 ledger_no 부여, 입력자/입력일 기록, 승인상태 N. 번호 충돌 시 트랜잭션 내 재확인.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FR-Ledger-04 / UC-Ledger-02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[라인 추가]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line_on 순차 부여 → gl_id·DRCR·amount 입력. 미사용/타 회사 계정·금액 0 이하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FR-Ledger-05·09 / UC-Ledger-03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계정코드(라인)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즉시 관리항목 플래그 로드 → 필드 활성/비활성 전환. 계정 변경 시 기존 값 재검증.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FR-Ledger-06·07 / UC-Ledger-04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관리항목 1~5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Slot의 상세값만 선택. 레이블은 실제 관리항목명 표시. 타 Slot 값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FR-Ledger-08 / UC-Ledger-05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Auto/입력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due_date 플래그 Y 시에만 활성 — partner_term 규칙(EOM+N/CurMDD) 자동 계산, 정책 없으면 권한자 직접 입력. N이면 미저장.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FR-Ledger-11 / UC-Ledger-07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[저장]/[승인]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라인·은행/카드·관리항목·due_date 유효성+차대변 합계 검증 → 위반/불일치 시 오류·차액 안내, 승인 차단. 통과 시 승인자/승인일 기록, 상태 Y.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FR-Ledger-09·10·13 / UC-Ledger-08·11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[수정]/[삭제]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approval_status=N + 미마감 연도만 허용. 마감연도(closing=Y)는 신규/수정/삭제/승인 전면 차단·조회만.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FR-Ledger-12·16 / UC-Ledger-09·10·13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선택형 필드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Layer 1 입력자/승인자, Layer 2 계정/고객사, Layer 3 은행·카드/부서/Pod/직원/고객사/거래처/관리항목 — 동일 그룹/회사 범위 Exact→Like.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FR-Ledger-14 / UC-Ledger-06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EVT-F03-09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은행/카드 (Layer 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bank_id 플래그 Y 시 동일 회사 사용중(0) finance_bank_account만 선택 → 라인 bank_id 저장. Y→N 전환 시 비활성·미저장.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FR-Ledger-15 / UC-Ledger-12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6-5. 초기이월 입력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SCR-FIN-04 초기이월 입력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그룹→회사→기수 종속 선택. system_year 미등록 기수 차단, 신규 기수 등록 직후 선택 가능.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FR-OpenBal-02 / UC-OpenBal-01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[조회]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사용중 계정과목 기준 입력행 + 기존 finance_open_balance 저장값 로드.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FR-OpenBal-01·03 / UC-OpenBal-01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계정/은행·카드/고객사/거래처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범위, 미사용 항목 제외. bank_id는 계좌·카드 통합 코드, 보조잔액은 선택 입력.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FR-OpenBal-05·09 / UC-OpenBal-02·03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금액/차대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DRCR(1/2)·amount≥0 검증, 회사/기수/계정/거래상대 조합 중복 차단. 0원 행 저장 제외 가능.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FR-OpenBal-04 / UC-OpenBal-02·03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미확정(closed=N) 상태로 일괄 저장. 차대변 불일치여도 미확정 저장 허용.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FR-OpenBal-07 / UC-OpenBal-02·04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[확정]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행 유효성+차대변 일치 검증 → 통과 시 수기 초기이월 closed=Y(연도 회계마감과 별개). 불일치 시 차액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FR-OpenBal-06·07 / UC-OpenBal-05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EVT-F04-07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[확정해제]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전용. 연도 회계마감(closing=Y) 연도·마감 자동생성분은 해제 불가, 허용 시에만 closed=N.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FR-OpenBal-08 / UC-OpenBal-06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6-6. 은행/카드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SCR-FIN-05 은행/카드 관리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[조회]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finance_bank_account 조회. 카드번호 마스킹 표시.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FR-Bank-01·02 / UC-Bank-01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[저장](계좌)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bank_account 입력·card_number 공란. 그룹+회사+bank_id 및 동일 계좌번호 중복 차단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FR-Bank-03 / UC-Bank-02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[저장](카드)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card_number 입력·bank_account 공란, 마스킹 표시. 동일 카드번호 중복 차단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FR-Bank-04 / UC-Bank-03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그룹·회사·bank_id 읽기전용. 명칭·번호·사용여부 수정, 두 번호 필드 동시 입력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FR-Bank-05 / UC-Bank-04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[삭제]/상태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finance_ledger_detail.bank_id 참조 검증 → 참조 시 미사용 전환 안내. 미사용은 신규 전표 선택 제외.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FR-Bank-06 / UC-Bank-05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EVT-F05-06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코드/명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Exact→Like. 전표 호출 시 status=0(사용)만 표시. 서버 회사격리 검증.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FR-Bank-07·08 / UC-Bank-06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6-7. 마감관리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SCR-FIN-06 마감관리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868680"/>
                <a:gridCol w="58978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[조회]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 × finance_closing 연계 — 기수·연도·마감여부·마감일자 표시. 행 없으면 미마감(N).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FR-Close-01 / UC-Close-01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연도 체크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미마감 연도만 체크 가능, closing=Y 연도 체크/재마감 불가. 복수 체크 시 연도 오름차순 순차 처리.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FR-Close-02 / UC-Close-02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[마감]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대상·차년도 기수 존재, 선행연도 마감, 미승인 전표 0건, 차년도 초기이월 미존재 검증 — 실패 시 사유·건수 안내 후 중단.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FR-Close-03·04·09 / UC-Close-03·06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잔액 산출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자산/부채/자본(gl_type 0~2)만 gl_id+bank_id+client_id+vendor_id 조합별 집계 — 자산은 차변, 부채·자본은 대변 이월. 0 잔액 미생성.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FR-Close-05~07 / UC-Close-04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이월 생성·마감 확정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Tx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차년도 open_balance INSERT(closed=Y) + finance_closing(closing=Y·마감일자) 단일 트랜잭션 — 실패 시 전체 ROLLBACK.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FR-Close-08·10 / UC-Close-05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EVT-F06-06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마감연도 잠금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closing=Y 연도의 전표 신규/수정/삭제/승인 및 초기이월 변경 차단 — 화면 비활성+API 검증 병행.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FR-Close-11 · FR-Ledger-16 / UC-Ledger-13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3A87"/>
                </a:solidFill>
                <a:latin typeface="Malgun Gothic"/>
              </a:rPr>
              <a:t>7.  구현 반영 개정이력 (v2.0 · 2026-08-14)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3A87"/>
                </a:solidFill>
                <a:latin typeface="Malgun Gothic"/>
              </a:rPr>
              <a:t>FINANCE 도메인 — 구현 검토 결과 반영분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3856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3108960"/>
                <a:gridCol w="484632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기존 기재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구현 확정 내용 / 근거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메인 화면 신설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 — 로그인 후 첫 메뉴로 직행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루트 경로 '/' 에 메인 화면을 두고 외부 컨설팅 포털을 iframe 으로 임베드한다. 로그인 후 진입 지점도 메인 화면으로 바꿨다.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상단 실행메뉴 탭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메뉴 실행 시 헤더에 탭이 생기고 클릭하면 그 화면으로 돌아간다. 탭 생성은 메뉴 클릭이 아니라 경로 변경을 감시하므로 주소 직접 입력·새로고침에도 동작한다. X 로 닫으며, 보던 탭을 닫으면 옆 탭 또는 메인으로 이동한다. 로그아웃 시 초기화.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프레임 크기 조절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고정 2-Frame / 3-Layer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ResizablePanes 공통 컴포넌트로 패널 폭을 드래그 조절한다. 인접 두 패널만 조정되고, 더블클릭 초기화·←/→ 키 조절을 지원하며 조절값은 화면별로 localStorage 에 유지된다. 마스터 12화면과 전표 3-Layer 가 같은 컴포넌트를 쓴다.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finance_dimension.slot_no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(누락)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tinyint Not Null 추가. Slot 1~5, 회사 내 유일, 재정렬 없음 — 전표 dimension1~5 와의 매핑이 영속이어야 한다(FR-Dim-05).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finance_open_balance.source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 신규] MANUAL / CLOSING. 마감해제가 회수할 자동생성분을 특정하는 근거다. 기존 행은 MANUAL 로 채워져 조용히 삭제되지 않는다.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finance_open_balance PK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gl_id 만 PK 표기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[09] 원본은 PK 없는 힙이었다. bank/client/vendor 키를 ISNULL(...,'-') PERSISTED 계산컬럼으로 만들어 복합 PK 로 승격했다.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finance_ledger_head.approved_date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Date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[09] datetime2(0) 으로 승격 — 승인은 감사 대상이라 일 단위로는 부족하다(D8). usp_finance_ledger_approve 도 함께 고쳐야 실제로 초가 기록된다.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금액 컬럼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numeric(10,2)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numeric(18,2) 로 통일 — open_balance.amount · ledger_detail.amount.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finance_bank_account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계좌/카드 상호배타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[09] "둘 다 NULL" 도 금지하는 CK_bank_one 추가(원본은 둘 다 입력만 차단). 회사 내 계좌·카드번호 중복 금지를 유니크 인덱스로 DDL 승격.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프로시저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usp_finance_closing_reopen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 신규] 연도 회계마감 해제(ADMIN). 마감이 오름차순 순차이므로 해제는 내림차순 순차다. 검증 5종(50531~50535) 후 closing=N 으로 되돌리고 차년도 source='CLOSING' 이월만 회수한다. ⚠ 해제해도 기존 승인 전표는 편집할 수 없다 — 승인취소 기능이 원본에 없다.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프로시저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usp_finance_gl_generate_standard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inserted_count 반환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[09] @@ROWCOUNT 를 COMMIT 뒤에서 읽어 항상 무의미한 값을 돌려주고 있었다. INSERT 직후에 포착하도록 수정.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프로시저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usp_finance_dimension_delete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상세값 → 마스터 순차 삭제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[09] 트랜잭션 없이 DELETE 2회라 두 번째가 실패하면 고아행이 남았다. 단일 트랜잭션으로 교체.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GET /finance/gl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usp_finance_gl_list 호출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화면기획서 5-1 ② 가 요구하는 계정구분이 그 프로시저 반환열(gl_id·gl_name)에 없다. 프로시저를 고치는 대신 Query Service(Prisma)로 옮겼다 — 01~08 동결 원칙. 부수 효과로 GL 목록에 실제 페이징이 생겼다.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API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POST /finance/ledgers/preview-account-change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계정 변경으로 플래그가 Y→N 이 되어 버려질 Layer3 값을 미리 보여준다. 값을 자동으로 지우지 않고 목록만 돌려주므로 화면이 사용자 확인을 받은 뒤 정리된 라인으로 저장한다(UC-Ledger-04 예외).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화면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전표관리 조회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기간 조회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전표일자를 YYYY-MM 월 단위로 조회하며 초기 진입 시에는 조회하지 않는다 — 전표는 건수가 많아 전체 조회를 허용하지 않는다. 조회조건바는 툴바 바로 아래에 둔다.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화면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계정과목 Head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계정구분·계정코드·계정과목 3컬럼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기획대로 3컬럼으로 구현했다(위 GET /finance/gl 변경이 이를 위한 것이다).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394959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algun Gothic"/>
              </a:rPr>
              <a:t>※ 표기 규약 — 본 기획서의 Type 열은 논리 타입이다. 구현 DDL 에서 한글을 담는 문자열은 nvarchar 로, Boolean 은 bit 로 생성되어 있다. status(bit) 의 극성은 테이블마다 다르다 — system_company·system_entity·system_pod·system_team·finance_bank_account 는 0 이 사용, partner_term·partner_client·partner_vendor·finance_GL·finance_dimension 은 1 이 사용이다. 애플리케이션은 shared-constants 의 isActive() 로 이 차이를 흡수한다.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2026-08-13T06:41:03Z</dcterms:created>
  <dcterms:modified xsi:type="dcterms:W3CDTF">2026-08-13T06:41:03Z</dcterms:modified>
</cp:coreProperties>
</file>