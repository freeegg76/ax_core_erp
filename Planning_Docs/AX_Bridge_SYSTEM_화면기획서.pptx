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9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solidFill>
            <a:srgbClr val="EEF0FA"/>
          </a:solidFill>
          <a:ln w="9525">
            <a:solidFill>
              <a:srgbClr val="D7DBE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· 화면설계 산출물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</a:t>
            </a:r>
            <a:endParaRPr lang="en-US" sz="38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8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도메인 화면기획서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3794760"/>
            <a:ext cx="1280160" cy="640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069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그룹관리 · 회사관리 · Pod 등록 · 부서등록 · 직원등록 · 회사 기수 등록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구성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Table 리스트  ② Table 내역서  ③ ERD  ④ 메뉴 프로세스  ⑤ 화면 기획서  ⑥ 이벤트 내역서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AX_Bridge_3__FR_UC_updated.xlsx (SYSTEM 테이블명세 · FR · UC 개정판 — 초기 Admin 계정 반영)
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작성일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2026-08-12      </a:t>
            </a:r>
            <a:pPr indent="0" marL="0">
              <a:lnSpc>
                <a:spcPts val="2200"/>
              </a:lnSpc>
              <a:buNone/>
            </a:pPr>
            <a:r>
              <a:rPr lang="en-US" sz="12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: 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v1.1 (Draft)
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 내 데이터는 기획 검토용 임시(더미) 데이터입니다.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리스트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71323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 도메인은 조직 마스터(그룹 → 회사 → 부서/Pod → 직원)와 회계기수(system_year)를 관리하는 6개 테이블로 구성된다.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737360"/>
                <a:gridCol w="1097280"/>
                <a:gridCol w="2743200"/>
                <a:gridCol w="411480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Table Name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논리명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Key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메뉴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company_id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최상위 조직 단위(그룹) 마스터. 모든 하위 테이블이 그룹코드를 참조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회사(법인)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entity_id / FK company_id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소속 법인. 사업자·대표자·주소 등 법인 기본정보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system_team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부서(Team)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Team_id / FK company·entity·owner·leader·pod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소속 부서. 오너·리더(직원 참조)와 소속 Pod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system_pod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pod_id / FK company_id, entity_id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상위 조직 묶음(Pod) 마스터. 부서·전표 관리항목에서 참조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직원/사용자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employee_Id / FK company·entity·Team_id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 인사정보 + 사용자 계정(user_yn·user_id·user_pass 해시) 통합 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system_year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기수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company_year_id / FK company_id, entity_id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회사별 회계기수(기수 ↔ 실제연도 매핑). FINANCE 기초잔액 등에서 참조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기수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5120640"/>
            <a:ext cx="11338560" cy="50292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정책(공통) : 하위/참조 데이터가 존재하는 마스터는 물리 삭제할 수 없으며 "미사용 전환"을 안내한다. 미사용 데이터는 신규 선택 팝업에서 제외되고 기존 참조는 유지된다.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(1/4) — system_company · system_pod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2-1. system_company (그룹)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88868"/>
                <a:gridCol w="1586170"/>
                <a:gridCol w="1535004"/>
                <a:gridCol w="460501"/>
                <a:gridCol w="1074503"/>
                <a:gridCol w="1944338"/>
                <a:gridCol w="665168"/>
                <a:gridCol w="614001"/>
                <a:gridCol w="3070007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그룹이름 (EN)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company_name_ko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그룹이름 (KO)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한줄 메모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설명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사용, 1 : 미사용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293522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2-4. system_pod (Pod)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246120"/>
          <a:ext cx="11338560" cy="914400"/>
        </p:xfrm>
        <a:graphic>
          <a:graphicData uri="http://schemas.openxmlformats.org/drawingml/2006/table">
            <a:tbl>
              <a:tblPr/>
              <a:tblGrid>
                <a:gridCol w="388868"/>
                <a:gridCol w="1586170"/>
                <a:gridCol w="1535004"/>
                <a:gridCol w="460501"/>
                <a:gridCol w="1074503"/>
                <a:gridCol w="1944338"/>
                <a:gridCol w="665168"/>
                <a:gridCol w="614001"/>
                <a:gridCol w="3070007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이름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사용, 1 : 미사용 (No.5·6 결번 — 원본 명세 기준)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5029200"/>
            <a:ext cx="11338560" cy="50292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Key 표기 : PK = 기본키(적색), FK = 외래키(청색). Reference는 "참조 테이블/컬럼" 형식.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(2/4) — system_entity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2-2. system_entity (회사)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88868"/>
                <a:gridCol w="1586170"/>
                <a:gridCol w="1535004"/>
                <a:gridCol w="460501"/>
                <a:gridCol w="1074503"/>
                <a:gridCol w="1944338"/>
                <a:gridCol w="665168"/>
                <a:gridCol w="614001"/>
                <a:gridCol w="3070007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 (EN)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entity_name_ko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 (KO)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varchar(50)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RegNum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주민등록번호/법인번호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BizNum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BizIndustry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BizCategory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Address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varchar(255)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estabilish_date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PhoneNumber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varchar(30)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FaxNumber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팩스번호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varchar(30)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한줄 메모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설명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사용, 1 : 미사용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(3/4) — system_team · system_year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2-3. system_team (부서)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88868"/>
                <a:gridCol w="1586170"/>
                <a:gridCol w="1535004"/>
                <a:gridCol w="460501"/>
                <a:gridCol w="1074503"/>
                <a:gridCol w="1944338"/>
                <a:gridCol w="665168"/>
                <a:gridCol w="614001"/>
                <a:gridCol w="3070007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부서명 (EN)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논리명 표기 "회사명 (EN)"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team_name_ko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부서명 (KO)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논리명 표기 "회사명 (KO)"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오너 사용자 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system_employee/employee_id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leader_user_id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 사용자 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system_employee/employee_id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한줄 메모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: 사용, 1 : 미사용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system_pod/pod_id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입력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89534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2-6. system_year (회사 기수)</a:t>
            </a:r>
            <a:endParaRPr lang="en-US" sz="12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206240"/>
          <a:ext cx="11338560" cy="914400"/>
        </p:xfrm>
        <a:graphic>
          <a:graphicData uri="http://schemas.openxmlformats.org/drawingml/2006/table">
            <a:tbl>
              <a:tblPr/>
              <a:tblGrid>
                <a:gridCol w="388868"/>
                <a:gridCol w="1586170"/>
                <a:gridCol w="1535004"/>
                <a:gridCol w="460501"/>
                <a:gridCol w="1074503"/>
                <a:gridCol w="1944338"/>
                <a:gridCol w="665168"/>
                <a:gridCol w="614001"/>
                <a:gridCol w="3070007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company_year_id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company_year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이상 정수, 표시 예 "5기" (FR-Year-04·07)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actual_year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년도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numeric(10,2)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YYYY 4자리 정수, 표시 예 "2026" (FR-Year-04·07)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(4/4) — system_employee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2-5. system_employee (직원/사용자) — 인사 기본정보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88868"/>
                <a:gridCol w="1586170"/>
                <a:gridCol w="1535004"/>
                <a:gridCol w="460501"/>
                <a:gridCol w="1074503"/>
                <a:gridCol w="1944338"/>
                <a:gridCol w="665168"/>
                <a:gridCol w="614001"/>
                <a:gridCol w="3070007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system_company/company_id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system_entity/entity_id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Team 코드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155C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system_team/team_id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employee_Id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varchar(10)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employee_name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email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english_name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직함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title_abbr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직함 약어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employment_type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고용 형태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varchar(40)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 상태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planned / probation / active / on_leave / leaving_soon / inactive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departure_date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퇴사일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start_date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입사일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내역서 (4/4) — system_employee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832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2-5. system_employee (직원/사용자) — 부가정보 · 사용자 계정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38560" cy="914400"/>
        </p:xfrm>
        <a:graphic>
          <a:graphicData uri="http://schemas.openxmlformats.org/drawingml/2006/table">
            <a:tbl>
              <a:tblPr/>
              <a:tblGrid>
                <a:gridCol w="388868"/>
                <a:gridCol w="1586170"/>
                <a:gridCol w="1535004"/>
                <a:gridCol w="460501"/>
                <a:gridCol w="1074503"/>
                <a:gridCol w="1944338"/>
                <a:gridCol w="665168"/>
                <a:gridCol w="614001"/>
                <a:gridCol w="3070007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Column-Physical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Column-Logical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Reference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Null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Default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Remark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timezone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근무 타임존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phone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전화번호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birthday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profile_image_url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프로필 사진 URL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slack_user_id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 사용자 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slack_handle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 핸들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social_buddy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소셜 버디명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user_yn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여부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Boolean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: 유저 아님, y : 유저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user_id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아이디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user_yn=Y 시 필수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user_pass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해시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varchar(255)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Not Null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평문 저장 금지. Argon2id/bcrypt 등 적응형 단방향 해시 결과만 저장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last_login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로그인 일시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datetime2(0)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No 21 (중복 번호)  [구현확정] 감사 시각이므로 초 단위로 기록한다.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last_manual_edit_at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마지막 수동 편집 일시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datetime2(0)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원본 No 22 (중복 번호)  [구현확정] 감사 시각이므로 초 단위로 기록한다.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ERD (SYSTEM 도메인)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67665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 : 필수 참조(Not Null FK) · 점선 : 선택 참조(Nullable FK) · system_team ↔ system_employee 는 상호 참조(부서의 오너·리더 = 직원, 직원의 소속 = 부서)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468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" y="1143000"/>
            <a:ext cx="24505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system_company (그룹)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14721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company_id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company_name / _ko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note · description · status
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24688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7784" y="2880360"/>
            <a:ext cx="24505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system_entity (회사)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" y="3209544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entity_name/_ko · RepName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BizNum · 업태/업종 · 주소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설립일 · 연락처 · status
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5029200"/>
            <a:ext cx="24688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57784" y="5029200"/>
            <a:ext cx="24505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system_year (회사 기수)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" y="53583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company_year_id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company_year · actual_year
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246888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72584" y="1143000"/>
            <a:ext cx="245059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system_pod (Pod)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1472184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pod_id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pod_name · status
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72584" y="3154680"/>
            <a:ext cx="263347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154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system_team (부서)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3483864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Team_id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owner → employee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leader_user_id → employee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pod_id (선택)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team_name/_ko · note · status
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052560" y="2468880"/>
            <a:ext cx="274320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5875">
            <a:solidFill>
              <a:srgbClr val="2E3A87"/>
            </a:solidFill>
            <a:prstDash val="solid"/>
          </a:ln>
          <a:effectLst>
            <a:outerShdw sx="100000" sy="100000" kx="0" ky="0" algn="bl" rotWithShape="0" blurRad="50800" dist="19050" dir="5400000">
              <a:srgbClr val="1E285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61704" y="2468880"/>
            <a:ext cx="2724912" cy="274320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26" name="Text 24"/>
          <p:cNvSpPr/>
          <p:nvPr/>
        </p:nvSpPr>
        <p:spPr>
          <a:xfrm>
            <a:off x="90525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system_employee (직원)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62288" y="2798064"/>
            <a:ext cx="2560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PK employee_Id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company_id · entity_id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155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FK Team_id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성명 · 이메일 · 직함 · 고용형태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재직상태 · 입/퇴사일 · 연락처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Slack · 프로필 · 소셜버디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user_yn · user_id · user_pass
</a:t>
            </a:r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last_login · last_manual_edit_at
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783080" y="2377440"/>
            <a:ext cx="914" cy="50292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874520" y="2487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(그룹→회사)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783080" y="4480560"/>
            <a:ext cx="914" cy="54864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874520" y="46451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(회사→기수)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flipV="1">
            <a:off x="3017520" y="2011680"/>
            <a:ext cx="1645920" cy="128016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3200400" y="2395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(회사→Pod)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017520" y="3840480"/>
            <a:ext cx="1645920" cy="914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200400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(회사→부서)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17520" y="4343400"/>
            <a:ext cx="6035040" cy="365760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5669280" y="47091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(회사→직원)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97880" y="2514600"/>
            <a:ext cx="914" cy="640080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6035040" y="272491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0..1:N (Pod→부서)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315200" y="3566160"/>
            <a:ext cx="1737360" cy="914"/>
          </a:xfrm>
          <a:prstGeom prst="line">
            <a:avLst/>
          </a:prstGeom>
          <a:noFill/>
          <a:ln w="19050">
            <a:solidFill>
              <a:srgbClr val="41508F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543800" y="33467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1:N (부서→직원)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 flipH="1">
            <a:off x="7315200" y="4114800"/>
            <a:ext cx="1737360" cy="914"/>
          </a:xfrm>
          <a:prstGeom prst="line">
            <a:avLst/>
          </a:prstGeom>
          <a:noFill/>
          <a:ln w="19050">
            <a:solidFill>
              <a:srgbClr val="8A93B8"/>
            </a:solidFill>
            <a:prstDash val="dash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7543800" y="4169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owner/leader 참조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11480" y="64465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3-1. SYSTEM 도메인 ERD — 그룹·회사 복합 종속 구조가 화면의 "그룹 → 회사 선행 선택" 규칙(FR-UI-05)의 근거가 된다.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프로세스 — 4-1. 메뉴 구조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385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194560"/>
                <a:gridCol w="2103120"/>
                <a:gridCol w="2194560"/>
                <a:gridCol w="1874520"/>
                <a:gridCol w="1874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Lv2 (메뉴)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ID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테이블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UC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SCR-SYS-01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FR-Comp-01~09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UC-Comp-01~08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회사관리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SCR-SYS-02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system_entity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FR-Entity-01~09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UC-Entity-01~08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SCR-SYS-03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system_pod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FR-Pod-01~07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UC-Pod-01~07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SCR-SYS-04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system_team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FR-Dept-01~08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UC-Dept-01~07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SCR-SYS-05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system_employee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FR-Emp-01~09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UC-Emp-01~08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기수 등록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SCR-SYS-06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system_year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FR-Year-01~07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UC-Year-01~04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Admin 계정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자동생성 · SCR-SYS-05 연계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built-in 계정 (bootstrap)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FR-Admin-01~06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UC-Admin-01~04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3977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4-2. 기준정보 구축 프로세스 (선행관계)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438912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389120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⓪ admin 로그인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(부트스트랩)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874520" y="43891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075688" y="438912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075688" y="4389120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그룹관리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system_company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493008" y="43891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94176" y="438912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94176" y="4389120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회사관리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system_entity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111496" y="43891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12664" y="438912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12664" y="4389120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Pod 등록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system_pod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729984" y="43891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31152" y="438912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31152" y="4389120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부서등록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system_team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348472" y="43891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549640" y="438912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49640" y="4389120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직원등록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system_employee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9966960" y="4389120"/>
            <a:ext cx="201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0168128" y="438912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EF0FA"/>
          </a:solidFill>
          <a:ln w="15875">
            <a:solidFill>
              <a:srgbClr val="2E3A8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168128" y="4389120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기수 등록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system_year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11480" y="5349240"/>
            <a:ext cx="11338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선행규칙 : 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선택 → 회사 선택 가능. 상위조건 변경 시 하위조건·Head/Detail 선택값 초기화 (FR-UI-05)
</a:t>
            </a:r>
            <a:pPr indent="0" marL="0">
              <a:lnSpc>
                <a:spcPts val="19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순환 참조 : 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부서의 오너·리더 = 직원(FK), 직원의 소속 = 부서(FK), 그리고 조직 마스터가 없으면 로그인할 직원 계정도 만들 수 없는 순환 의존성이 존재. built-in admin 부트스트랩 계정이 조직 FK 없이 인증 가능하도록 하여 이 순환을 제거(FR-Admin-02). 부서 오너/리더는 ③→④(임시)→⑤→④(확정) 순으로 해소
</a:t>
            </a:r>
            <a:pPr indent="0" marL="0">
              <a:lnSpc>
                <a:spcPts val="1900"/>
              </a:lnSpc>
              <a:buNone/>
            </a:pPr>
            <a:r>
              <a:rPr lang="en-US" sz="1000" b="1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삭제 정책 : </a:t>
            </a:r>
            <a:pPr indent="0" marL="0">
              <a:lnSpc>
                <a:spcPts val="1900"/>
              </a:lnSpc>
              <a:buNone/>
            </a:pPr>
            <a:r>
              <a:rPr lang="en-US" sz="10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참조 중 마스터는 삭제 불가 → 미사용 전환 안내. 미사용 데이터는 신규 선택 팝업에서 제외, 기존 참조 유지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프로세스 — 4-3. 표준 화면 동작 (공통 UI, FR-UI-01~07)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3444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진입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874520" y="123444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93976" y="12344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3976" y="123444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조회조건 입력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(그룹→회사 종속)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511296" y="123444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30752" y="12344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123444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[조회]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목록 표시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48072" y="123444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67528" y="12344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7528" y="123444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행 선택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Detail 갱신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84848" y="123444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04304" y="12344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04304" y="123444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[신규/수정]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편집모드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421624" y="123444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12344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41080" y="123444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[저장]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검증→트랜잭션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058400" y="1234440"/>
            <a:ext cx="219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277856" y="12344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77856" y="1234440"/>
            <a:ext cx="14173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재조회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유지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3172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950976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동작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툴바 표준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신규 · 수정 · 저장 · 삭제 · 취소 순서 고정. 권한/화면상태에 따라 버튼 활성·비활성 처리 (FR-UI-02, FR-UI-07). 조회전용 권한은 편집 버튼 비활성.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조회조건바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그룹/회사가 필요한 메뉴는 그룹 → 회사 → 메뉴별 주요 검색조건 → 상태 순 배치. 조회조건 초기화 제공 (FR-UI-03).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 / Enter 검색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 = 조건 범위 선택 팝업. Enter = Exact 검색 우선, 일치 시 즉시 선택 · 미일치 시 Like 팝업 (FR-UI-04). 상위조건 미선택 시 팝업을 열지 않고 선행 선택 안내.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Head/Detail 연동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 행 선택 시 Detail 즉시 갱신. 신규/수정 중 편집 상태 표시, 미저장 변경 존재 시 이동·재조회에 보호 확인 (FR-UI-06, UC-UI-05).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저장/삭제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트랜잭션 처리. 저장 성공 후 Head 재조회·선택 유지. 삭제는 참조/상태 검증 후 수행, 불가 시 미사용 전환 안내 (FR-UI-07, UC-UI-03).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SCR-SYS-01 그룹관리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4937760"/>
          </a:xfrm>
          <a:prstGeom prst="roundRect">
            <a:avLst>
              <a:gd name="adj" fmla="val 926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SYSTEM &gt; 그룹관리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46811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46811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FST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4681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 ⑥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그룹명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0704" y="1467612"/>
            <a:ext cx="17373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" y="1467612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Forsit Group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816352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27248" y="13990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77647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17720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689336" y="1453896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89336" y="14538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초기화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" y="1746504"/>
            <a:ext cx="6226150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1746504"/>
            <a:ext cx="6079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④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75688"/>
          <a:ext cx="5943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914400"/>
                <a:gridCol w="1920240"/>
                <a:gridCol w="1920240"/>
                <a:gridCol w="7772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(EN)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(KO)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Forsit Group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JTC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JT Consulting Group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제이티컨설팅그룹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DMO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Demo Holdings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데모홀딩스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6646774" y="1746504"/>
            <a:ext cx="509412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19926" y="1746504"/>
            <a:ext cx="4947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상세 (Detail)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⑤</a:t>
            </a:r>
            <a:endParaRPr lang="en-US" sz="8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3934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859682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(EN)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Forsit Group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(KO)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한줄 메모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글로벌 이커머스/마케팅 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상세 설명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2019년 설립. 커머스·인플루언서 마케팅 법인 보유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Shape 36"/>
          <p:cNvSpPr/>
          <p:nvPr/>
        </p:nvSpPr>
        <p:spPr>
          <a:xfrm>
            <a:off x="6646774" y="1746504"/>
            <a:ext cx="914" cy="372160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11480" y="58064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5-1-A. 그룹관리 메인 — 조회 상태 (UC-Comp-01, UC-Comp-02) · 다음 슬라이드에 번호별 설명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그룹관리 메인 화면 — 번호별 설명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상단 툴바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조회·신규·수정·저장·삭제·취소 순 고정(FR-UI-02). 조회 상태 : 조회/신규 활성, 저장/취소는 편집모드에서 활성. 조회전용 권한 사용자는 편집 버튼 비활성(FR-UI-07).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 → 그룹 선택 팝업(FR-Comp-04). 검색어+Enter → Exact 일치 시 즉시 선택, 미일치 시 Like 결과 팝업(FR-Comp-05). 부분 입력 후 [조회] 시 Like 조건으로 목록 필터.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콤보 : 전체 / 사용 / 미사용. 기본값 전체. status 0=사용, 1=미사용 매핑.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목록 (Head)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system_company 조회 결과 : 그룹코드, 그룹명(EN/KO), 사용여부(FR-Comp-02). 행 클릭 시 Detail 갱신(FR-UI-06). 결과 없음 시 "조회 결과가 없습니다" 표시 + Detail 초기화(UC-UI-01).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상세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그룹 전체 항목 표시(FR-Comp-03). 조회 상태에서는 읽기전용. * = 필수 입력(그룹코드, 그룹명 EN/KO, 사용여부).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상태(조회/신규/수정)와 미저장 변경 여부 표시(FR-UI-06). 편집 중 "신규(수정) — 저장되지 않음"으로 변경.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선택 팝업 (F2 / Enter-Like 공용) — 화면 5-1-B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512064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05840"/>
            <a:ext cx="510235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선택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40680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9224" y="3968496"/>
            <a:ext cx="510235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401421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40142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69664" y="401421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9664" y="40142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9808" y="1280160"/>
            <a:ext cx="4901184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280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그룹명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389888" y="1348740"/>
            <a:ext cx="14630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134874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871216" y="13258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99432" y="1335024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1335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1783080"/>
          <a:ext cx="4800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822960"/>
                <a:gridCol w="1554480"/>
                <a:gridCol w="1371600"/>
                <a:gridCol w="6858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(EN)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(KO)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Forsit Group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Fortune Two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포춘투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795528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Like 검색 결과 2건</a:t>
            </a:r>
            <a:endParaRPr lang="en-US" sz="10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005840"/>
          <a:ext cx="56692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429768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검색어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시 원 필드 입력값 승계. Enter 진입이면 Like 결과가 초기 표시. 팝업 내 재검색 가능.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목록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 : 전체/조건 목록, Enter : Like 결과. 더블클릭 = 선택+확인. Like 0건 시 "조회 결과 없음" 표시 후 검색어 유지(UC-Comp-08 예외).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행의 그룹명을 호출 필드에 입력하고 종료. 미선택 확인 시 "그룹을 선택하세요" 안내(UC-Comp-07 예외).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입력값을 유지한 채 팝업 종료.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22" name="Text 18"/>
          <p:cNvSpPr/>
          <p:nvPr/>
        </p:nvSpPr>
        <p:spPr>
          <a:xfrm>
            <a:off x="411480" y="457200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5-1-B. F2 또는 Enter(Exact 미일치) 시 표시 (UC-Comp-07, UC-Comp-08) — 이후 모든 코드/명칭 선택 팝업의 공통 패턴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11480" y="5029200"/>
            <a:ext cx="11338560" cy="64008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범위 : 그룹·회사·부서·Pod·직원·계정 등 모든 선택형 코드/명칭 필드에 동일 패턴 적용(FR-UI-04). 상위조건(예: 그룹) 미선택 시 팝업을 열지 않고 선행 선택을 안내(UC-UI-04 예외).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신규 등록 (편집모드) — 데이터 변경 프로세스 · 화면 5-1-C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4206240"/>
          </a:xfrm>
          <a:prstGeom prst="roundRect">
            <a:avLst>
              <a:gd name="adj" fmla="val 1087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등록 중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73659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7365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1건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7365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신규 — 저장되지 않음 ⑤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그룹명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60704" y="1467612"/>
            <a:ext cx="173736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88136" y="1467612"/>
            <a:ext cx="1691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926080" y="13990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75304" y="1467612"/>
            <a:ext cx="82296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" y="1746504"/>
            <a:ext cx="6226150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1746504"/>
            <a:ext cx="607984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75688"/>
          <a:ext cx="5943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914400"/>
                <a:gridCol w="1920240"/>
                <a:gridCol w="1920240"/>
                <a:gridCol w="77724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(EN)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(KO)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Forsit Group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JTC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JT Consulting Group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제이티컨설팅그룹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(신규 행)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6646774" y="1746504"/>
            <a:ext cx="509412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19926" y="1746504"/>
            <a:ext cx="494781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상세 (Detail) — 신규 입력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④</a:t>
            </a:r>
            <a:endParaRPr lang="en-US" sz="8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83934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859682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(EN)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Nexus Ventures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 (KO)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넥서스벤처스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한줄 메모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신규 투자 그룹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36" name="Shape 32"/>
          <p:cNvSpPr/>
          <p:nvPr/>
        </p:nvSpPr>
        <p:spPr>
          <a:xfrm>
            <a:off x="6646774" y="1746504"/>
            <a:ext cx="914" cy="299008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11480" y="50749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5-1-C. [신규] 클릭 후 편집모드 (UC-Comp-03) — 황색 배경 = 편집 가능 필드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822960" y="54864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2296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(5-1-A)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2697480" y="54864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3017520" y="54864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01752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신규/수정 (5-1-C)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4892040" y="54864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212080" y="54864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21208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(필수·중복)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7086600" y="54864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7406640" y="54864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40664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(트랜잭션)</a:t>
            </a:r>
            <a:endParaRPr lang="en-US" sz="900" dirty="0"/>
          </a:p>
        </p:txBody>
      </p:sp>
      <p:sp>
        <p:nvSpPr>
          <p:cNvPr id="49" name="Text 45"/>
          <p:cNvSpPr/>
          <p:nvPr/>
        </p:nvSpPr>
        <p:spPr>
          <a:xfrm>
            <a:off x="9281160" y="548640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50" name="Shape 46"/>
          <p:cNvSpPr/>
          <p:nvPr/>
        </p:nvSpPr>
        <p:spPr>
          <a:xfrm>
            <a:off x="9601200" y="548640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9601200" y="548640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재조회·선택 유지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신규/삭제 프로세스 — 번호별 설명 · 화면 5-1-D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 검증 → 그룹코드 중복 검증(FR-Comp-06) → 트랜잭션 저장 → 성공 시 Head 재조회 후 신규 행 선택 유지(FR-UI-07). 실패 시 저장하지 않고 오류 필드 포커스+메시지(UC-UI-02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미저장 변경 확인 다이얼로그 후 편집 내용 폐기, 조회 상태로 복귀(UC-UI-05).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 (편집 중)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행이 가상 행으로 표시. 편집 중 다른 행 선택 시 미저장 보호 확인(저장/무시/취소) 후 진행(FR-UI-06).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 (신규모드)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필드 전체 입력 가능. 그룹코드는 신규 시에만 입력, 수정모드에서는 읽기전용(FR-Comp-07). 조회조건바는 편집 중 잠금.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"신규 — 저장되지 않음" 강조. 저장/취소 완료 시 "조회"로 복귀.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379476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20624" y="3794760"/>
            <a:ext cx="5468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6" name="Text 3"/>
          <p:cNvSpPr/>
          <p:nvPr/>
        </p:nvSpPr>
        <p:spPr>
          <a:xfrm>
            <a:off x="521208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확인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57784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0624" y="5065776"/>
            <a:ext cx="5468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74920" y="511149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51114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06824" y="511149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0A5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06824" y="51114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21208" y="4087368"/>
            <a:ext cx="526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D4A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 </a:t>
            </a:r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[DMO] 데모홀딩스 를 삭제하시겠습니까?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후에는 복구할 수 없습니다.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5080" y="3794760"/>
            <a:ext cx="54864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64224" y="3794760"/>
            <a:ext cx="5468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16" name="Text 13"/>
          <p:cNvSpPr/>
          <p:nvPr/>
        </p:nvSpPr>
        <p:spPr>
          <a:xfrm>
            <a:off x="6464808" y="37947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불가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52144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364224" y="5065776"/>
            <a:ext cx="5468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18520" y="511149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018520" y="51114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0250424" y="511149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50424" y="51114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미사용 전환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464808" y="4087368"/>
            <a:ext cx="5266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4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[FST] 폴싯그룹 은(는) 하위 회사 3건이 존재하여 삭제할 수 없습니다.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대신 사용여부를 "미사용"으로 변경하세요.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⑦</a:t>
            </a:r>
            <a:endParaRPr lang="en-US" sz="14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62356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 클릭 시 1차 확인 → 하위 회사(system_entity) 존재 검증 → 참조 없으면 삭제 후 Head 재조회(UC-Comp-06).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참조 제한 안내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회사 존재 시 삭제 중단, 미사용 전환 안내(FR-Comp-09). [미사용 전환] 클릭 시 status=1 저장 — 신규 선택 팝업 제외, 기존 참조 유지(FR-Comp-08).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SCR-SYS-02 회사관리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5029200"/>
          </a:xfrm>
          <a:prstGeom prst="roundRect">
            <a:avLst>
              <a:gd name="adj" fmla="val 90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회사관리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SYSTEM &gt; 회사관리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55955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5595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FST-KR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5595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13716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 · 폴싯그룹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4872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15768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회사명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46120" y="1467612"/>
            <a:ext cx="13716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1467612"/>
            <a:ext cx="1325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폴싯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3600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46904" y="13990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96128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0624" y="1746504"/>
            <a:ext cx="4754514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1746504"/>
            <a:ext cx="46082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4389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868680"/>
                <a:gridCol w="1417320"/>
                <a:gridCol w="1005840"/>
                <a:gridCol w="73152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 (KO)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FST-KR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폴싯코리아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FST-JP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폴싯재팬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사토 유이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FST-SG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폴싯싱가포르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Wei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5175138" y="1746504"/>
            <a:ext cx="6565758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248290" y="1746504"/>
            <a:ext cx="6419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상세 (Detail)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④</a:t>
            </a:r>
            <a:endParaRPr lang="en-US" sz="85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12298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94159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FST-KR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회사명(EN)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Forsit Korea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회사명(KO)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폴싯코리아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대표자명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110111-1234567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123-45-67890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설립일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2019-03-02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3737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85599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광고대행, 전자상거래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서울 강남구 테헤란로 123, 8F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전화번호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02-555-0100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팩스번호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02-555-0101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한줄 메모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본사 법인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Shape 37"/>
          <p:cNvSpPr/>
          <p:nvPr/>
        </p:nvSpPr>
        <p:spPr>
          <a:xfrm>
            <a:off x="5175138" y="1746504"/>
            <a:ext cx="914" cy="381304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411480" y="589788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5-2-A. 회사관리 메인 (UC-Entity-01, UC-Entity-02)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5-2.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회사관리 — 번호별 설명 · 선행조건 안내 팝업 (화면 5-2-B)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86868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 필수 조건. F2/Enter 그룹 선택(FR-Entity-04). 그룹 미선택 상태에서 조회·회사명 검색 시 아래 안내 팝업 표시 후 조회하지 않음(UC-Entity-01 예외). 그룹 변경 시 회사 조건·Head/Detail 초기화(FR-UI-05).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그룹 소속 회사 범위에서만 F2/Enter 검색(FR-Entity-05). Exact 일치 시 즉시 선택, 미일치 시 Like 팝업(5-1-B 공통 패턴).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목록 (Head)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그룹 소속 system_entity만 표시(FR-Entity-02). 컬럼 : 회사코드, 회사명, 대표자, 사용여부.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 상세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법인 전체 정보 표시(FR-Entity-03). 수정모드에서 그룹코드·회사코드는 읽기전용(FR-Entity-07). 법인번호·사업자등록번호는 형식 검증 적용(FR-Client 계열과 동일 체계).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11480" y="3703320"/>
            <a:ext cx="5120640" cy="146304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20624" y="3703320"/>
            <a:ext cx="510235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6" name="Text 3"/>
          <p:cNvSpPr/>
          <p:nvPr/>
        </p:nvSpPr>
        <p:spPr>
          <a:xfrm>
            <a:off x="521208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2120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20624" y="4837176"/>
            <a:ext cx="510235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488289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48828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21208" y="3977640"/>
            <a:ext cx="4901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 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그룹을 먼저 선택하세요. </a:t>
            </a:r>
            <a:pPr indent="0" marL="0">
              <a:lnSpc>
                <a:spcPts val="14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
</a:t>
            </a:r>
            <a:pPr indent="0" marL="0">
              <a:lnSpc>
                <a:spcPts val="14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회사는 그룹 선택 후 조회/선택할 수 있습니다. (FR-UI-05)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3703320"/>
          <a:ext cx="5943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45720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 안내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미선택 + (회사명 F2/Enter, [조회], [신규]) 시도 → 팝업/조회/등록을 수행하지 않고 안내 표시(UC-Entity-08, UC-UI-04 예외). 확인 시 그룹 조건으로 포커스 이동.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11480" y="5532120"/>
            <a:ext cx="11338560" cy="54864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회사 신규/수정/삭제는 그룹관리(5-1-C·D)와 동일 패턴. 차이점 : 신규 시 선택 그룹이 상위로 자동 설정(UC-Entity-03), 삭제 시 부서·Pod·직원 등 하위 데이터 검증(FR-Entity-09).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5-3.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SCR-SYS-03 Pod 등록 — 신규 등록 · 입력 검증 (화면 5-3-A)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등록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SYSTEM &gt; Pod 등록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50799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5079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1건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5079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신규 — 저장되지 않음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128016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 · 폴싯그룹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13432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624328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08960" y="1467612"/>
            <a:ext cx="146304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36392" y="146761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 · 폴싯코리아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00016" y="1399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093208" y="1467612"/>
            <a:ext cx="109728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0" y="1467612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08776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19672" y="13990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68896" y="1467612"/>
            <a:ext cx="73152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96328" y="146761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0624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목록 (Head)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75688"/>
          <a:ext cx="41605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914400"/>
                <a:gridCol w="201168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이름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Growth Pod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Commerce Pod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(신규 행)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6080760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153912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Pod 상세 (Detail) — 신규 입력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425696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FST-KR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⚠ Pod 코드는 4자 이내로 입력하세요. (varchar(4)) ④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이름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Influencer Pod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44" name="Shape 40"/>
          <p:cNvSpPr/>
          <p:nvPr/>
        </p:nvSpPr>
        <p:spPr>
          <a:xfrm>
            <a:off x="6080760" y="1746504"/>
            <a:ext cx="914" cy="276148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11480" y="48463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5-3-A. Pod 신규 등록 중 입력값 검증 오류 상태 (UC-Pod-03 예외)</a:t>
            </a:r>
            <a:endParaRPr lang="en-US" sz="9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21208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그룹/회사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그룹→회사 종속(FR-Pod-01). 미선택 시 조회하지 않고 선행 안내(UC-Pod-01 예외). 편집 중 조건 잠금.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 — 선택 그룹·회사 소속 Pod만, Exact 후 미일치 시 Like 팝업(FR-Pod-07).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 (신규)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: Pod 코드(4자)·이름·사용여부(FR-Pod-03). 수정모드에선 Pod 코드도 읽기전용(FR-Pod-04).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메시지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4자 초과·중복 시 저장 차단, 필드 하단 즉시 오류(UC-Pod-03 예외). 저장 시점 재검증. 삭제는 team/전표 참조 시 미사용 전환 안내(FR-Pod-06).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SCR-SYS-04 부서등록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부서등록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SYSTEM &gt; 부서등록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64515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64515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T001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64515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12344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 · 폴싯그룹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7744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862072" y="1467612"/>
            <a:ext cx="14630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89504" y="1467612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 · 폴싯코리아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343400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54296" y="13990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부서명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184648" y="1467612"/>
            <a:ext cx="11430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146761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Growth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345936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56832" y="13990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사용여부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306056" y="1467612"/>
            <a:ext cx="73152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33488" y="1467612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0624" y="1746504"/>
            <a:ext cx="6565758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" y="1746504"/>
            <a:ext cx="64194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6245352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822960"/>
                <a:gridCol w="1371600"/>
                <a:gridCol w="1234440"/>
                <a:gridCol w="1234440"/>
                <a:gridCol w="548640"/>
                <a:gridCol w="6858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 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부서명 (KO)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그로스마케팅팀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E1001 김지원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 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커머스운영팀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E1001 김지원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E1012 이도현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재무운영팀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E1002 강석천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E1002 강석천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6986382" y="1746504"/>
            <a:ext cx="4754514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059534" y="1746504"/>
            <a:ext cx="46082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 상세 (Detail)</a:t>
            </a:r>
            <a:endParaRPr lang="en-US" sz="8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23542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3520074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Team 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부서명(EN/KO)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Growth Marketing / 그로스마케팅팀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오너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E1001 · 김지원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리더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 · 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P01 · Growth Pod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한줄 메모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퍼포먼스/그로스 조직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hape 40"/>
          <p:cNvSpPr/>
          <p:nvPr/>
        </p:nvSpPr>
        <p:spPr>
          <a:xfrm>
            <a:off x="6986382" y="1746504"/>
            <a:ext cx="914" cy="289864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11480" y="4956048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5-4-A. 부서등록 메인 (UC-Dept-01, UC-Dept-02)</a:t>
            </a:r>
            <a:endParaRPr lang="en-US" sz="900" dirty="0"/>
          </a:p>
        </p:txBody>
      </p:sp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30352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그룹/회사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선택 후 소속 회사만 선택(FR-Dept-01). 미선택 시 선행 안내(5-2-B 패턴).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 = 소속 부서 목록 팝업, Enter = Exact→Like(FR-Dept-08, UC-Dept-07).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system_team 기준. 오너·리더 "사번 성명" 결합 표시, Pod 미지정 "—".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(Detail)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입력(Nullable FK). F2 팝업 : 동일 그룹·회사의 사용중 Pod만(FR-Dept-04).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5-4.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선택 팝업 (오너/리더 F2) — 화면 5-4-B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852160" cy="320040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57784" y="1005840"/>
            <a:ext cx="583387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058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선택 — 리더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80760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57784" y="3877056"/>
            <a:ext cx="583387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392277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39227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09744" y="392277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39227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" y="1280160"/>
            <a:ext cx="5632704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12801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61288" y="1348740"/>
            <a:ext cx="123444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34874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 · FST-KR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14016" y="132588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4912" y="12801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사번/성명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92424" y="1348740"/>
            <a:ext cx="9144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1348740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39512" y="1335024"/>
            <a:ext cx="914400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13350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" y="1783080"/>
          <a:ext cx="50292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640080"/>
                <a:gridCol w="731520"/>
                <a:gridCol w="1737360"/>
                <a:gridCol w="731520"/>
                <a:gridCol w="82296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소속 부서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T001 그로스마케팅팀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E1017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박지훈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T002 커머스운영팀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매니저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04088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inactive 직원 제외</a:t>
            </a:r>
            <a:endParaRPr lang="en-US" sz="10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005840"/>
          <a:ext cx="50292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365760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범위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그룹·회사 소속 직원만(FR-Dept-04). 다른 회사 직원은 원천 차단, 우회 입력 시 저장 단계 조직 불일치 오류(UC-Dept-03 예외).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inactive 직원은 신규 오너·리더 선택 목록에서 제외.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직원 사번(employee_Id)이 owner/leader_user_id에 입력, 화면엔 "사번 · 성명" 표시.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11480" y="44348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5-4-B. 부서 신규/수정 중 오너·리더 선택 (FR-Dept-04, UC-Dept-03)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11480" y="4892040"/>
            <a:ext cx="11338560" cy="68580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부서 신규(UC-Dept-03) 필수값 : Team 코드·부서명·오너·리더·사용여부. 수정(UC-Dept-04) : 그룹·회사·Team 코드 읽기전용. 삭제(UC-Dept-06) : system_employee.Team_id / finance_ledger_detail.Team_id 참조 시 삭제 불가 → 미사용 전환 안내.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5-5.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SCR-SYS-05 직원등록 — 메인(조회)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4892040"/>
          </a:xfrm>
          <a:prstGeom prst="roundRect">
            <a:avLst>
              <a:gd name="adj" fmla="val 935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직원등록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SYSTEM &gt; 직원등록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542239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542239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3건 · 선택 : E1005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542239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67712" y="1467612"/>
            <a:ext cx="82296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1467612"/>
            <a:ext cx="777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218688" y="1399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11880" y="1467612"/>
            <a:ext cx="155448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1467612"/>
            <a:ext cx="1508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T001 그로스마케팅팀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84648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95544" y="139903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사번/성명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163056" y="1467612"/>
            <a:ext cx="91440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1467612"/>
            <a:ext cx="868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05472" y="1399032"/>
            <a:ext cx="621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재직상태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54696" y="1467612"/>
            <a:ext cx="777240" cy="210312"/>
          </a:xfrm>
          <a:prstGeom prst="rect">
            <a:avLst/>
          </a:prstGeom>
          <a:solidFill>
            <a:srgbClr val="FFFFFF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82128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 ▾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650224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0624" y="1746504"/>
            <a:ext cx="5207325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" y="1746504"/>
            <a:ext cx="506102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목록 (Head)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2075688"/>
          <a:ext cx="4782312" cy="914400"/>
        </p:xfrm>
        <a:graphic>
          <a:graphicData uri="http://schemas.openxmlformats.org/drawingml/2006/table">
            <a:tbl>
              <a:tblPr/>
              <a:tblGrid>
                <a:gridCol w="347472"/>
                <a:gridCol w="685800"/>
                <a:gridCol w="777240"/>
                <a:gridCol w="868680"/>
                <a:gridCol w="777240"/>
                <a:gridCol w="868680"/>
                <a:gridCol w="4572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직함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고용형태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E1021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최민재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매니저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probation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E1033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한유진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어시스턴트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계약직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planned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5627949" y="1746504"/>
            <a:ext cx="6112947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01101" y="1746504"/>
            <a:ext cx="59666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상세 (Detail) — 기본정보 / 계정정보 탭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③</a:t>
            </a:r>
            <a:endParaRPr lang="en-US" sz="85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5109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004913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E1005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박서연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영문명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Seoyeon Park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이메일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seoyeon@forsit.ex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직함/약어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팀장 / TL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고용형태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정규직  ▾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재직상태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30143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004913"/>
              </a:tblGrid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입사일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2021-05-10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Asia/Seoul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Slack 핸들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@seoyeon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여부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 ▾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아이디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seoyeon.park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●●●●●●●● (해시 저장됨)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비밀번호 초기화… 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Shape 43"/>
          <p:cNvSpPr/>
          <p:nvPr/>
        </p:nvSpPr>
        <p:spPr>
          <a:xfrm>
            <a:off x="5627949" y="1746504"/>
            <a:ext cx="914" cy="367588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11480" y="576072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5-5-A. 직원등록 메인 (UC-Emp-01, UC-Emp-02) — 다음 슬라이드에 번호별 설명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5-5.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직원등록 — 번호별 설명</a:t>
            </a:r>
            <a:endParaRPr lang="en-US" sz="20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 조회조건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→ 회사 → 부서 순 종속 선택(FR-Emp-01). 각 필드 F2/Enter 검색은 상위조직 범위 내에서만 동작(FR-Emp-09), 순서 위반 시 선행 조직 선택 안내(UC-Emp-01 예외).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재직상태 (조회조건)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/ planned / probation / active / on_leave / leaving_soon / inactive (FR-Emp-07).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 탭 구성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많아 기본정보(인사)와 계정정보(user_yn·user_id·비밀번호·로그인 이력) 탭으로 분리. 사번은 수정모드에서 읽기전용(FR-Emp-06). 조직 이동 시 새 그룹·회사·부서 조합 유효성 검증.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재직상태 변경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변경 시 필요에 따라 입사일/퇴사일 입력(UC-Emp-06). inactive 전환 시 로그인 불가(FR-Emp-07). 허용 목록 외 상태값 저장 불가.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여부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선택 시 유저 아이디·비밀번호 필수 활성화(FR-Emp-03). N이면 계정 필드 비활성. 유저 아이디는 중복 불가.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표시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해시값은 어떤 경우에도 화면 표시·복호화 금지(FR-Emp-04·05, UC-Emp-02 예외). 마스킹만 표시, 변경은 별도 팝업(5-5-B). built-in admin 계정도 본 화면에서 조회하여 동일 규칙으로 비밀번호를 변경한다(FR-Admin-05, UC-Admin-03).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4892040"/>
            <a:ext cx="11338560" cy="50292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직원 삭제(UC-Emp-07) : 부서 오너/리더, 파이프라인 담당자, 전표 입력자/승인자 등 참조 시 물리 삭제하지 않고 inactive 전환 안내(FR-Emp-08).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5-5.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변경/초기화 팝업 — 화면 5-5-B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493776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51560"/>
            <a:ext cx="491947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51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 변경 — E1005 박서연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257800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9224" y="3099816"/>
            <a:ext cx="491947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31455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1455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86784" y="314553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86784" y="314553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8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46704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비밀번호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●●●●●●●●●●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비밀번호 확인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●●●●●●●●●●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49808" y="2103120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입력값은 서버에서 Argon2id(또는 조직 표준 bcrypt) 해시로 변환 저장됩니다.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평문은 DB·로그 어디에도 기록되지 않습니다. 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8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448056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비밀번호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2회 입력 일치 검증 후 처리(UC-Emp-05). 일반 정보 수정 저장 시 비밀번호 미입력이면 기존 해시 유지(FR-Emp-05).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 원칙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user_pass에는 적응형 단방향 해시 결과만 저장(FR-Emp-04). user_yn=N 직원은 팝업 진입 불가(UC-Emp-05 예외). 관리자 초기화도 동일 팝업 사용, 기존 해시는 표시하지 않음.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411480" y="37490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5-5-B. 비밀번호 변경/초기화 (FR-Emp-04·05, UC-Emp-05)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22960" y="429768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[비밀번호 초기화…]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697480" y="4297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017520" y="429768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017520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비밀번호 2회 입력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4892040" y="4297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212080" y="429768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12080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일치·정책 검증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086600" y="4297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406640" y="429768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406640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해시(Argon2id)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9281160" y="4297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9601200" y="4297680"/>
            <a:ext cx="1874520" cy="502920"/>
          </a:xfrm>
          <a:prstGeom prst="roundRect">
            <a:avLst>
              <a:gd name="adj" fmla="val 9091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601200" y="4297680"/>
            <a:ext cx="1874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user_pass 저장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11480" y="5212080"/>
            <a:ext cx="11338560" cy="54864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변경 프로세스 : 팝업 [변경] → 검증 통과 시에만 해시 갱신 트랜잭션 수행 → 성공 안내 후 팝업 종료. 실패(불일치·정책 위반) 시 저장하지 않고 오류 필드 안내.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SCR-SYS-06 회사 기수 등록 — 신규 등록 · 중복 검증 (화면 5-6-A)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777240"/>
            <a:ext cx="11338560" cy="3840480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777240"/>
            <a:ext cx="1133856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7772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기수 등록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80760" y="777240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&gt; SYSTEM &gt; 회사 기수 등록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4370832"/>
            <a:ext cx="1132027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4370832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1건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80760" y="437083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B2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신규 — 저장되지 않음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069848"/>
            <a:ext cx="11320272" cy="32918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225296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38528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38528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64992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7F8FC"/>
          </a:solidFill>
          <a:ln w="9525">
            <a:solidFill>
              <a:srgbClr val="DDE1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3B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078224" y="1120140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78224" y="112014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1399032"/>
            <a:ext cx="11320272" cy="347472"/>
          </a:xfrm>
          <a:prstGeom prst="rect">
            <a:avLst/>
          </a:prstGeom>
          <a:solidFill>
            <a:srgbClr val="FBFCFF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14984" y="1467612"/>
            <a:ext cx="64008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2416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83080" y="1399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*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67712" y="1467612"/>
            <a:ext cx="86868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95144" y="1467612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1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FST-KR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54680" y="14447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65576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기수코드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059936" y="1467612"/>
            <a:ext cx="77724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87368" y="1467612"/>
            <a:ext cx="731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65192" y="139903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358384" y="1467612"/>
            <a:ext cx="54864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85816" y="1467612"/>
            <a:ext cx="502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035040" y="13990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50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실제연도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29400" y="1467612"/>
            <a:ext cx="640080" cy="210312"/>
          </a:xfrm>
          <a:prstGeom prst="rect">
            <a:avLst/>
          </a:prstGeom>
          <a:solidFill>
            <a:srgbClr val="EEF0F6"/>
          </a:solidFill>
          <a:ln w="9525">
            <a:solidFill>
              <a:srgbClr val="AE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56832" y="1467612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0624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 목록 (Head)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②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2075688"/>
          <a:ext cx="301752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005840"/>
                <a:gridCol w="731520"/>
                <a:gridCol w="86868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실제연도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Y2024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Y2025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7기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＋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(신규 행)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</a:tbl>
          </a:graphicData>
        </a:graphic>
      </p:graphicFrame>
      <p:sp>
        <p:nvSpPr>
          <p:cNvPr id="43" name="Shape 40"/>
          <p:cNvSpPr/>
          <p:nvPr/>
        </p:nvSpPr>
        <p:spPr>
          <a:xfrm>
            <a:off x="6080760" y="1746504"/>
            <a:ext cx="5660136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153912" y="1746504"/>
            <a:ext cx="5513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기수 상세 (Detail) — 신규 입력</a:t>
            </a:r>
            <a:endParaRPr lang="en-US" sz="8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75688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471416"/>
              </a:tblGrid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기수코드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Y2025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B423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⚠ 동일 회사에 이미 등록된 기수코드입니다. ③</a:t>
                      </a:r>
                      <a:endParaRPr lang="en-US" sz="7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실제연도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 ④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46" name="Shape 42"/>
          <p:cNvSpPr/>
          <p:nvPr/>
        </p:nvSpPr>
        <p:spPr>
          <a:xfrm>
            <a:off x="6080760" y="1746504"/>
            <a:ext cx="914" cy="2624328"/>
          </a:xfrm>
          <a:prstGeom prst="line">
            <a:avLst/>
          </a:prstGeom>
          <a:noFill/>
          <a:ln w="9525">
            <a:solidFill>
              <a:srgbClr val="D7DBE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411480" y="470916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5-6-A. 기수 신규 등록 중 중복 검증 오류 (UC-Year-02 예외)</a:t>
            </a:r>
            <a:endParaRPr lang="en-US" sz="900" dirty="0"/>
          </a:p>
        </p:txBody>
      </p:sp>
      <p:graphicFrame>
        <p:nvGraphicFramePr>
          <p:cNvPr id="7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507492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조회조건바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그룹·회사·기수코드·기수·실제연도 순(FR-Year-01). 그룹 선택 후 소속 회사만 선택(FR-Year-02). 편집 중 잠금.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 목록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기수는 "7기", 실제연도는 "2025" 형식으로 구분 표기(FR-Year-07).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회사 내 기수코드·기수·연도 중복 시 저장 차단(FR-Year-04). 수정모드 : 그룹·회사·기수코드 읽기전용(FR-Year-05).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 검증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 ≥ 1 정수, 실제연도 YYYY 4자리(FR-Year-04). 삭제는 finance_open_balance 참조 시 차단·사용처 안내(FR-Year-06).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5-7.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Admin 계정 — 최초 로그인 · 부트스트랩 (화면 5-7-A)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42062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9224" y="1005840"/>
            <a:ext cx="418795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AX Bridge 로그인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26280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9224" y="3419856"/>
            <a:ext cx="418795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346557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346557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8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417320"/>
          <a:ext cx="9144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072384"/>
              </a:tblGrid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사용자ID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①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*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●●●●●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B3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6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49808" y="2240280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최초 설치 시 자동 생성된 built-in 계정입니다.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로그인 후 비밀번호 변경을 권장합니다.</a:t>
            </a:r>
            <a:endParaRPr lang="en-US" sz="8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005840"/>
          <a:ext cx="658368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521208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사용자ID admin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완료 시 built-in Super User "admin" 활성 계정을 1개 자동 생성(FR-Admin-01). 그룹/회사/직원 마스터가 없는 상태에서도 인증 가능한 bootstrap 계정 — 조직 FK 선행생성을 요구하지 않도록 별도 시스템 계정 저장소 또는 built-in 예외정책으로 구현(FR-Admin-02).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비밀번호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비밀번호 "admin"도 평문 저장 금지 — Argon2id/bcrypt 등 적응형 단방향 해시로 저장하고 화면·로그·API 응답에 평문/해시를 노출하지 않는다(FR-Admin-03).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로그인·권한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입력값과 저장 해시를 검증하여 Super User 권한으로 로그인(UC-Admin-02). 그룹·회사·부서/Pod·직원·회사 기수·회계 기준정보 등 초기 셋업 메뉴 전체에 접근·등록·수정 권한(FR-Admin-04).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411480" y="402336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5-7-A. built-in admin 로그인 (FR-Admin-01~04, UC-Admin-01·02)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부트스트랩 → 초기 셋업 프로세스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475488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4754880"/>
            <a:ext cx="17190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완료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176272" y="4754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432304" y="475488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32304" y="4754880"/>
            <a:ext cx="17190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자동 생성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(해시 저장)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4151376" y="4754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407408" y="475488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407408" y="4754880"/>
            <a:ext cx="17190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로그인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(Super User)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6126480" y="4754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382512" y="475488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82512" y="4754880"/>
            <a:ext cx="17190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셋업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그룹→…→기수·회계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101584" y="4754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357616" y="475488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57616" y="4754880"/>
            <a:ext cx="17190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사용자·권한 구성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10076688" y="4754880"/>
            <a:ext cx="256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9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10332720" y="4754880"/>
            <a:ext cx="1719072" cy="685800"/>
          </a:xfrm>
          <a:prstGeom prst="roundRect">
            <a:avLst>
              <a:gd name="adj" fmla="val 6667"/>
            </a:avLst>
          </a:prstGeom>
          <a:solidFill>
            <a:srgbClr val="F2F3F8"/>
          </a:solidFill>
          <a:ln w="12700">
            <a:solidFill>
              <a:srgbClr val="8A93B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0332720" y="4754880"/>
            <a:ext cx="1719072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 비밀번호 변경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(직원 정보관리)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411480" y="5852160"/>
            <a:ext cx="11338560" cy="502920"/>
          </a:xfrm>
          <a:prstGeom prst="rect">
            <a:avLst/>
          </a:prstGeom>
          <a:solidFill>
            <a:srgbClr val="F7F8FC"/>
          </a:solidFill>
          <a:ln w="9525">
            <a:solidFill>
              <a:srgbClr val="D7DBEA"/>
            </a:solidFill>
          </a:ln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C44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admin은 별도 등록 화면 없이 설치 시 자동 생성되며, 이후 운영 관리는 직원등록(SCR-SYS-05) 화면과 연계한다 — 다음 슬라이드.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5-7.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Admin 계정 — 직원 정보관리 연계 · 삭제 제한 (화면 5-7-B)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6675120" cy="246888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9050">
            <a:solidFill>
              <a:srgbClr val="8A93B8"/>
            </a:solidFill>
            <a:prstDash val="solid"/>
          </a:ln>
          <a:effectLst>
            <a:outerShdw sx="100000" sy="100000" kx="0" ky="0" algn="bl" rotWithShape="0" blurRad="76200" dist="25400" dir="5400000">
              <a:srgbClr val="1E285A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822960"/>
            <a:ext cx="6675120" cy="292608"/>
          </a:xfrm>
          <a:prstGeom prst="rect">
            <a:avLst/>
          </a:prstGeom>
          <a:solidFill>
            <a:srgbClr val="2E3A87"/>
          </a:solidFill>
          <a:ln/>
        </p:spPr>
      </p:sp>
      <p:sp>
        <p:nvSpPr>
          <p:cNvPr id="5" name="Text 3"/>
          <p:cNvSpPr/>
          <p:nvPr/>
        </p:nvSpPr>
        <p:spPr>
          <a:xfrm>
            <a:off x="521208" y="8229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직원등록 — admin 계정 조회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822960"/>
            <a:ext cx="3227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DC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SCR-SYS-05 연계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0624" y="3044952"/>
            <a:ext cx="665683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30449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: admin · 1건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49040" y="3044952"/>
            <a:ext cx="3227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: 조회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161288"/>
            <a:ext cx="6656832" cy="237744"/>
          </a:xfrm>
          <a:prstGeom prst="rect">
            <a:avLst/>
          </a:prstGeom>
          <a:solidFill>
            <a:srgbClr val="F0F2F9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1161288"/>
            <a:ext cx="6510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3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계정 영역 (계정정보 탭)</a:t>
            </a:r>
            <a:pPr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①</a:t>
            </a:r>
            <a:endParaRPr lang="en-US" sz="8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" y="1490472"/>
          <a:ext cx="4800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280160"/>
                <a:gridCol w="640080"/>
                <a:gridCol w="685800"/>
                <a:gridCol w="1371600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B35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아이디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F6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built-in admin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6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" y="2112264"/>
          <a:ext cx="914400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422392"/>
              </a:tblGrid>
              <a:tr h="27432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3507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A61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●●●●●●●● (해시 저장 · 표시 안함)  [ 비밀번호 변경… ]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②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EB6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6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7406640" y="822960"/>
            <a:ext cx="43434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15784" y="822960"/>
            <a:ext cx="4325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16" name="Text 12"/>
          <p:cNvSpPr/>
          <p:nvPr/>
        </p:nvSpPr>
        <p:spPr>
          <a:xfrm>
            <a:off x="7516368" y="82296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 불가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11430000" y="822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415784" y="1911096"/>
            <a:ext cx="4325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927080" y="195681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2E3A87"/>
          </a:solidFill>
          <a:ln w="9525">
            <a:solidFill>
              <a:srgbClr val="232C6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927080" y="195681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7516368" y="1097280"/>
            <a:ext cx="4123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built-in admin 계정은 삭제할 수 없습니다.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삭제는 허용되지 않습니다. (FR-Admin-06)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7406640" y="2377440"/>
            <a:ext cx="43434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6B76A8"/>
            </a:solidFill>
            <a:prstDash val="solid"/>
          </a:ln>
          <a:effectLst>
            <a:outerShdw sx="100000" sy="100000" kx="0" ky="0" algn="bl" rotWithShape="0" blurRad="101600" dist="38100" dir="5400000">
              <a:srgbClr val="141C46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415784" y="2377440"/>
            <a:ext cx="4325112" cy="274320"/>
          </a:xfrm>
          <a:prstGeom prst="rect">
            <a:avLst/>
          </a:prstGeom>
          <a:solidFill>
            <a:srgbClr val="3D4A94"/>
          </a:solidFill>
          <a:ln/>
        </p:spPr>
      </p:sp>
      <p:sp>
        <p:nvSpPr>
          <p:cNvPr id="24" name="Text 20"/>
          <p:cNvSpPr/>
          <p:nvPr/>
        </p:nvSpPr>
        <p:spPr>
          <a:xfrm>
            <a:off x="7516368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비활성화 제한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143000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7415784" y="3602736"/>
            <a:ext cx="4325112" cy="320040"/>
          </a:xfrm>
          <a:prstGeom prst="rect">
            <a:avLst/>
          </a:prstGeom>
          <a:solidFill>
            <a:srgbClr val="F7F8FC"/>
          </a:solidFill>
          <a:ln w="6350">
            <a:solidFill>
              <a:srgbClr val="D7DBEA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927080" y="3648456"/>
            <a:ext cx="658368" cy="22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AA3C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927080" y="36484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F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닫기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516368" y="2651760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200" b="1" dirty="0">
                <a:solidFill>
                  <a:srgbClr val="B423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  </a:t>
            </a:r>
            <a:pPr indent="0" marL="0">
              <a:lnSpc>
                <a:spcPts val="13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admin이 유일한 활성 최고관리자입니다. </a:t>
            </a:r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
</a:t>
            </a:r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활성 Super User를 먼저 생성한 후 비활성화할 수 있습니다. (UC-Admin-04 예외)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11480" y="3520440"/>
            <a:ext cx="11338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5-7-B. 직원 정보관리 내 admin 계정 관리 (FR-Admin-05·06, UC-Admin-03·04)</a:t>
            </a:r>
            <a:endParaRPr lang="en-US" sz="900" dirty="0"/>
          </a:p>
        </p:txBody>
      </p:sp>
      <p:graphicFrame>
        <p:nvGraphicFramePr>
          <p:cNvPr id="7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86200"/>
          <a:ext cx="113385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737360"/>
                <a:gridCol w="905256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 조회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직원등록/직원 정보관리 화면의 사용자 계정 영역에서 admin 계정을 조회·선택(FR-Admin-05). bootstrap 계정 특성상 조직(그룹/회사/부서) 항목은 비어 있거나 시스템 예외로 표시될 수 있다(FR-Admin-02 구현 방식에 따름).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비밀번호 변경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5-5-B 팝업과 동일 규칙 — 기존 비밀번호/해시 미표시, 새 비밀번호 입력 시 새 솔트로 재해시 저장(FR-Emp-05, FR-Admin-05). 변경 후에는 새 비밀번호로만 로그인 가능(UC-Admin-03).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삭제 차단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admin 사용자ID의 물리 삭제는 허용하지 않는다 — 초기 셋업을 위한 유일한 복구수단 상실 방지(FR-Admin-06).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3A8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비활성화 조건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운영정책상 비활성화가 필요한 경우 다른 활성 Super User 존재를 우선 검증 — 최소 1개의 활성 최고관리자 접근수단을 항상 유지(FR-Admin-06, UC-Admin-04).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6-1. 공통 이벤트 (전 화면 적용) 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 표준 이벤트 1~6 (FR-UI-01~07)</a:t>
            </a:r>
            <a:endParaRPr lang="en-US" sz="12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진입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툴바·조회조건바·Head/Detail 표준 레이아웃 렌더링. 조회조건 기본값 설정, Detail 초기화.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FR-UI-01 / UC-UI-01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[조회]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선행조직 등 조건 유효성 확인 → Head 조회 → 첫 행 자동 선택 → Detail 갱신. 0건 시 "결과 없음"+Detail 초기화.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FR-UI-03 / UC-UI-01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 행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Row 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행 기준 Detail 갱신. 편집 중이면 미저장 보호 확인(저장/무시/취소) 후 진행.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FR-UI-06 / UC-UI-05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[신규]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Detail 신규모드 전환, 허용 필드 활성화, 상위조직 자동 설정, "신규 — 저장되지 않음" 표시.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FR-UI-02·06 / UC-UI-02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[수정]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행 존재 확인 → Detail 수정모드 전환. 식별키(코드류) 읽기전용.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FR-UI-02 / UC-UI-02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필수값·형식·중복·참조조직 검증 → 트랜잭션 저장 → Head 재조회·선택 유지·조회모드 복귀. 실패 시 오류 필드 포커스, 편집 유지.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FR-UI-07 / UC-UI-02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6-1. 공통 이벤트 (전 화면 적용) ②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UI 표준 이벤트 7~12 (FR-UI-01~07)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확인 → 참조/상태 검증 → 가능 시 트랜잭션 삭제·재조회. 참조 존재 시 중단·미사용 전환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FR-UI-07 / UC-UI-03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[취소]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미저장 변경 확인 후 편집 폐기, 조회모드 복귀, 직전 선택 행 Detail 복원.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FR-UI-06 / UC-UI-03·05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EVT-COM-09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코드/명칭 필드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상위조건 확인(미충족 시 선행 안내) → 조건 범위 선택 팝업 → 확인 시 선택값 입력.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FR-UI-04·05 / UC-UI-04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EVT-COM-10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코드/명칭 필드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Exact 검색 → 1건 일치 시 즉시 입력. 미일치 시 Like 팝업. Like 0건 시 "결과 없음"·검색어 유지.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FR-UI-04 / UC-UI-04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EVT-COM-11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조회조건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조회조건·Head/Detail 선택값 초기화(그룹 변경 → 회사·부서 초기화).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EVT-COM-12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이탈/재조회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BeforeUnload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중 미저장 변경 시 저장/무시/취소 확인. 저장 검증 실패 시 이동 중단·편집 유지.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FR-UI-06 / UC-UI-05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6-2·6-3. 그룹관리 · 회사관리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SCR-SYS-01 그룹관리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EVT-S01-01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그룹명(조건)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선택 팝업(5-1-B). Enter는 Exact→Like. 확인 시 그룹명 입력.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FR-Comp-04·05 / UC-Comp-07·08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EVT-S01-02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필수값+그룹코드 중복 검증 → system_company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FR-Comp-06 / UC-Comp-03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EVT-S01-03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그룹코드 변경 차단. 명칭·메모·설명·사용여부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FR-Comp-07 / UC-Comp-04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EVT-S01-04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Change+저장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 변경. 미사용 시 신규 하위조직 선택에서 제외(기존 참조 유지).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FR-Comp-08 / UC-Comp-05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EVT-S01-05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하위 system_entity 검증 → 없으면 DELETE, 있으면 미사용 전환 안내(5-1-D).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FR-Comp-09 / UC-Comp-06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56616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SCR-SYS-02 회사관리</a:t>
            </a:r>
            <a:endParaRPr lang="en-US" sz="12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87705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EVT-S02-01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선택(Exact→Like). 선택 시 회사 조건·Head/Detail 초기화.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FR-Entity-04 / UC-Entity-07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EVT-S02-02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회사명(조건)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 미선택 시 차단+선행 안내(5-2-B). 소속 회사만 Exact/Like.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FR-Entity-05 / UC-Entity-08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EVT-S02-03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그룹 자동 상위 설정, 필수값+코드 중복+사업자번호 형식 검증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FR-Entity-06 / UC-Entity-03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EVT-S02-04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그룹·회사코드 읽기전용, 기타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FR-Entity-07 / UC-Entity-04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EVT-S02-05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부서/Pod/직원 등 하위 검증 → 없으면 DELETE, 있으면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FR-Entity-09 / UC-Entity-06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6-4·6-5. Pod 등록 · 부서등록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SCR-SYS-03 Pod 등록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EVT-S03-01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그룹·회사 소속 Pod만 Exact→Like 조회.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FR-Pod-07 / UC-Pod-07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EVT-S03-02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 코드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Blur/저장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4자 초과·중복 검증(5-3-A). 위반 시 저장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FR-Pod-03 / UC-Pod-03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EVT-S03-03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상위조직·Pod 코드 읽기전용, 이름·사용여부만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FR-Pod-04 / UC-Pod-04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EVT-S03-04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system_team.pod_id / finance_ledger_detail.pod_id 참조 검증 → 참조 시 미사용 전환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FR-Pod-06 / UC-Pod-06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321868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SCR-SYS-04 부서등록</a:t>
            </a:r>
            <a:endParaRPr lang="en-US" sz="12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529584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EVT-S04-01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부서명(조건)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 선행 확인 → 소속 부서 Exact→Like(5-4-A ②).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FR-Dept-08 / UC-Dept-07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EVT-S04-02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오너/리더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 선택 팝업(5-4-B). 동일 그룹·회사 + 활성 직원만.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FR-Dept-04 / UC-Dept-03·04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EVT-S04-03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Pod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동일 그룹·회사 사용중 Pod만. 선택 해제 가능(Nullable).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FR-Dept-04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EVT-S04-04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필수값+Team 코드 중복+오너/리더/Pod 조직 일치 검증 → INSERT.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FR-Dept-03 / UC-Dept-03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EVT-S04-05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그룹·회사·Team 코드 읽기전용. 부서명·오너·리더·Pod·메모·사용여부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FR-Dept-05 / UC-Dept-04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EVT-S04-06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직원·전표 상세 Team_id 참조 검증 → 참조 시 미사용 전환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FR-Dept-07 / UC-Dept-06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6-6·6-7. 직원등록 · 회사 기수 등록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SCR-SYS-05 직원등록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EVT-S05-01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조직/직원 필드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F2/Enter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그룹→회사→부서 종속 범위 Exact→Like. 상위 미선택 시 차단·선행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FR-Emp-09 / UC-Emp-08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EVT-S05-02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여부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Y : 유저 아이디·비밀번호 활성+필수화. N : 계정 필드 비활성.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FR-Emp-03 / UC-Emp-03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EVT-S05-03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[저장](신규)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필수값+조직 유효성+사번/유저ID 중복 검증 → 비밀번호 서버 해시 후 INSERT. 평문 미저장.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FR-Emp-03·04 / UC-Emp-03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EVT-S05-04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[비밀번호 초기화]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 팝업(5-5-B). 2회 일치 검증 → 해시 저장. 미입력 시 기존 해시 유지. 해시 미표시.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FR-Emp-05 / UC-Emp-05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EVT-S05-05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재직상태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Change+저장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상태값 검증, 필요 시 입/퇴사일 입력. inactive 시 로그인 차단.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FR-Emp-07 / UC-Emp-06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EVT-S05-06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사번 읽기전용. 조직 이동 시 새 조합 유효성 검증 후 UPDATE.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FR-Emp-06 / UC-Emp-04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EVT-S05-07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부서 오너/리더·파이프라인·전표 참조 검증 → 참조 시 inactive 전환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FR-Emp-08 / UC-Emp-07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11480" y="4261104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SCR-SYS-06 회사 기수 등록</a:t>
            </a:r>
            <a:endParaRPr lang="en-US" sz="1200" dirty="0"/>
          </a:p>
        </p:txBody>
      </p:sp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4572000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EVT-S06-01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기수/연도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Blur/저장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 ≥ 1 정수, 연도 YYYY 4자리. 동일 회사 내 중복 차단(5-6-A).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FR-Year-04 / UC-Year-02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EVT-S06-02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[저장](수정)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그룹·회사·기수코드 읽기전용. 기수·연도만 UPDATE. 회계참조 존재 시 경고.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FR-Year-05 / UC-Year-03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EVT-S06-03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finance_open_balance.company_year_id 참조 검증 → 참조 시 차단·사용처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FR-Year-06 / UC-Year-04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EVT-S06-04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Head/Detail 표시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Render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기수 "N기", 실제연도 "YYYY" 구분 표기.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FR-Year-07 / UC-Year-01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 </a:t>
            </a:r>
            <a:pPr indent="0" marL="0">
              <a:buNone/>
            </a:pPr>
            <a:r>
              <a:rPr lang="en-US" sz="2000" b="1" dirty="0">
                <a:solidFill>
                  <a:srgbClr val="232C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내역서 — 6-8. 초기 Admin 계정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3A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Admin 계정 (설치 프로세스 · SCR-SYS-05 연계)</a:t>
            </a:r>
            <a:endParaRPr lang="en-US" sz="12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25296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234440"/>
                <a:gridCol w="868680"/>
                <a:gridCol w="612648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ID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컴포넌트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내용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FR/UC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8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EVT-ADM-01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 프로세스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Install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built-in Super User admin 자동 생성 — 초기 비밀번호도 적응형 단방향 해시로 저장, 활성 상태.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FR-Admin-01·03 / UC-Admin-01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EVT-ADM-02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Submit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조직/직원 마스터 부재 상태에서도 bootstrap 인증 허용 → 해시 검증 후 Super User 로그인. 불일치 시 로그인 거부.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FR-Admin-02·03 / UC-Admin-02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EVT-ADM-03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셋업 메뉴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Access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그룹·회사·부서/Pod·직원·기수·회계 기준정보 등 초기 셋업 메뉴 전체 접근·등록·수정 허용.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FR-Admin-04 / UC-Admin-02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EVT-ADM-04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[비밀번호 변경…]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직원 정보관리에서 admin 조회 → 5-5-B 규칙으로 재해시 저장. 기존 해시 미표시, 변경 후 새 비밀번호로만 로그인.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FR-Admin-05 / UC-Admin-03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32C6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EVT-ADM-05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[삭제]/[비활성화]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Click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삭제 차단. 비활성화는 다른 활성 Super User 존재 시에만 허용 — 유일 최고관리자이면 처리하지 않고 안내.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1F3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FR-Admin-06 / UC-Admin-04</a:t>
                      </a:r>
                      <a:endParaRPr lang="en-US" sz="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E3A87"/>
                </a:solidFill>
                <a:latin typeface="Malgun Gothic"/>
              </a:rPr>
              <a:t>7.  구현 반영 개정이력 (v2.0 · 2026-08-14)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86384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3A87"/>
                </a:solidFill>
                <a:latin typeface="Malgun Gothic"/>
              </a:rPr>
              <a:t>SYSTEM 도메인 — 구현 검토 결과 반영분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88720"/>
          <a:ext cx="11338560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2331720"/>
                <a:gridCol w="3108960"/>
                <a:gridCol w="484632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기존 기재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algun Gothic"/>
                        </a:rPr>
                        <a:t>구현 확정 내용 / 근거</a:t>
                      </a:r>
                    </a:p>
                  </a:txBody>
                  <a:tcPr anchor="ctr" marL="27432" marR="27432" marT="27432" marB="27432">
                    <a:solidFill>
                      <a:srgbClr val="2E3A8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메인 화면 신설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 — 로그인 후 첫 메뉴로 직행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루트 경로 '/' 에 메인 화면을 두고 외부 컨설팅 포털을 iframe 으로 임베드한다. 로그인 후 진입 지점도 메인 화면으로 바꿨다.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상단 실행메뉴 탭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(없음)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메뉴 실행 시 헤더에 탭이 생기고 클릭하면 그 화면으로 돌아간다. 탭 생성은 메뉴 클릭이 아니라 경로 변경을 감시하므로 주소 직접 입력·새로고침에도 동작한다. X 로 닫으며, 보던 탭을 닫으면 옆 탭 또는 메인으로 이동한다. 로그아웃 시 초기화.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공통 UI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프레임 크기 조절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고정 2-Frame / 3-Layer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ResizablePanes 공통 컴포넌트로 패널 폭을 드래그 조절한다. 인접 두 패널만 조정되고, 더블클릭 초기화·←/→ 키 조절을 지원하며 조절값은 화면별로 localStorage 에 유지된다. 마스터 12화면과 전표 3-Layer 가 같은 컴포넌트를 쓴다.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메뉴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메뉴 구성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6개 메뉴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구현도 6개 메뉴 그대로다. 사이드바와 상단 탭이 menu.ts 단일 정의를 공유한다.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테이블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system_employee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인사·계정 25컬럼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>
                          <a:solidFill>
                            <a:srgbClr val="1A1F36"/>
                          </a:solidFill>
                          <a:latin typeface="Malgun Gothic"/>
                        </a:rPr>
                        <a:t>구현 일치. last_login·last_manual_edit_at 은 datetime2(0) 이며 user_pass 는 어떤 API 응답에도 포함되지 않는다(FR-Emp-04).</a:t>
                      </a:r>
                    </a:p>
                  </a:txBody>
                  <a:tcPr anchor="ctr" marL="27432" marR="2743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2779776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666666"/>
                </a:solidFill>
                <a:latin typeface="Malgun Gothic"/>
              </a:rPr>
              <a:t>※ 표기 규약 — 본 기획서의 Type 열은 논리 타입이다. 구현 DDL 에서 한글을 담는 문자열은 nvarchar 로, Boolean 은 bit 로 생성되어 있다. status(bit) 의 극성은 테이블마다 다르다 — system_company·system_entity·system_pod·system_team·finance_bank_account 는 0 이 사용, partner_term·partner_client·partner_vendor·finance_GL·finance_dimension 은 1 이 사용이다. 애플리케이션은 shared-constants 의 isActive() 로 이 차이를 흡수한다.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2026-08-12T13:16:29Z</dcterms:created>
  <dcterms:modified xsi:type="dcterms:W3CDTF">2026-08-12T13:16:29Z</dcterms:modified>
</cp:coreProperties>
</file>