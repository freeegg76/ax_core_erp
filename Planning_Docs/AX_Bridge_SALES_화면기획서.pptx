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solidFill>
            <a:srgbClr val="EEF0FA"/>
          </a:solidFill>
          <a:ln w="9525">
            <a:solidFill>
              <a:srgbClr val="D7DBE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· 화면설계 산출물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도메인 화면기획서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280160" cy="640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관리 · 고객 액티비티 관리 · 계약관리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구성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Table 리스트  ② Table 내역서  ③ ERD  ④ 메뉴 프로세스  ⑤ 화면 기획서  ⑥ 이벤트 내역서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AX_Bridge_FR_UC_UI_Standardized.xlsx (Sales 테이블명세 · FR · UC)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2026-08-12  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(Draft)  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 표준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도메인 화면기획서 4-3 및 FR-UI-01~07 준용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내 데이터는 기획 검토용 임시(더미) 데이터입니다.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리스트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 도메인은 영업기회(파이프라인) → 영업활동(액티비티) → 계약으로 이어지는 영업 프로세스 3개 테이블로 구성된다.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280160"/>
                <a:gridCol w="3108960"/>
                <a:gridCol w="3566160"/>
                <a:gridCol w="11887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Name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논리명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Key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메뉴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sales_pipeline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pipeline_id / FK company·entity·employee_Id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영업기회 마스터. 유형·고객사명·스테이지·담당자·일정과 계약 연결(contract_id)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sales_pipeline_detail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액티비티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activity_id / FK company·entity·pipeline_id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파이프라인별 영업활동 이력. 활동 타입·내용·상대방 담당자·첨부링크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액티비티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sales_contract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contract_id+contract_type(+전표키) / FK client_id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계약 마스터. 기간·상태·금액과 파이프라인/전표(finance_ledger_head) 연결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566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코드체계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931920"/>
          <a:ext cx="11338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8046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코드값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pipeline_type (파이프라인 유형)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대행 · 1 : 사입 · 2 : 리테일 · 3 : 마케팅 · 4 : 기타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 (파이프라인 스테이지)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Lead · 1 : Qualified Lead · 2 : Suggest · 3 : Meeting · 4 : Nego · 5 : Closed · 6 : Canceled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 (활동 타입)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메일 · 1 : 전화 · 2 : 미팅 · 3 : 기타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contract_type (계약 유형)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Agency · 1 : Sourcing · 2 : Marketing · 3 : Logistics · 4 : Retail · 5 : ETC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 (계약 상태)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Active · 1 : Inactive · 2 : Suspend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(1/3) — sales_pipeline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sales_pipeline (파이프라인)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580287"/>
                <a:gridCol w="1580287"/>
                <a:gridCol w="444456"/>
                <a:gridCol w="987679"/>
                <a:gridCol w="1876591"/>
                <a:gridCol w="592608"/>
                <a:gridCol w="543224"/>
                <a:gridCol w="335811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pipeline_id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pipeline_type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유형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대행, 1 : 사입, 2 : 리테일, 3 : 마케팅, 4 : 기타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이름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client_id 미보유 — partner_client.client_name을 텍스트로 저장(FR-Pipe-04)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stage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스테이지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Lead, 1 : Qualified Lead, 2 : Suggest, 3 : Meeting, 4 : Nego, 5 : Closed, 6 : Canceled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아이디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system_employee/employee_Id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varchar(255)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created_date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생성일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adjusted_date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최종 수정일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 저장 시 자동 갱신(FR-Pipe-06)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마감일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Closed/Canceled 전환 시 설정(FR-Pipe-07)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contract_id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sales_contract.contract_id 연결(FR-Pipe-08)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(2/3) — sales_pipeline_detail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sales_pipeline_detail (고객 액티비티)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580287"/>
                <a:gridCol w="1580287"/>
                <a:gridCol w="444456"/>
                <a:gridCol w="987679"/>
                <a:gridCol w="1876591"/>
                <a:gridCol w="592608"/>
                <a:gridCol w="543224"/>
                <a:gridCol w="335811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pipeline_id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액티비티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생성 또는 고유값 입력. 액티비티 수정/삭제 식별키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created_date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생성일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시 현재일 기본 설정 가능(FR-Act-04)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타입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varchar(30)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메일, 1 : 전화, 2 : 미팅, 3 : 기타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활동내역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incharge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상대방 담당자 이름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attached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첨부화일 링크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링크/경로 형식·250자 검증(FR-Act-06)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5029200"/>
            <a:ext cx="11338560" cy="54864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액티비티는 파이프라인 종속 데이터로, 파이프라인 삭제 시 액티비티 존재 여부를 먼저 확인한다(FR-Pipe-09). 액티비티 삭제는 activity_id 단위이며 파이프라인 본체는 유지된다(FR-Act-07).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(3/3) — sales_contract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sales_contract (계약)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75318"/>
                <a:gridCol w="1580287"/>
                <a:gridCol w="1580287"/>
                <a:gridCol w="444456"/>
                <a:gridCol w="987679"/>
                <a:gridCol w="1876591"/>
                <a:gridCol w="592608"/>
                <a:gridCol w="543224"/>
                <a:gridCol w="335811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client_id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partner_client/client_id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contract_id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contract_type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유형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Agency, 1 : Sourcing, 2 : Marketing, 3 : Logistics, 4 : Retail, 5 : ETC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pipeline_id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 파이프라인 연결, 고객사명 일치 검증(FR-Contract-05)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시작일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end_date보다 늦을 수 없음(FR-Contract-06)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end_date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종료일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상태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Active, 1 : Inactive, 2 : Suspend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contract_amount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금액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전표일자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finance_ledger_head/ledger_date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ledger_no와 함께 입력 또는 함께 공란(FR-Contract-08)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finance_ledger_head/ledger_no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종료일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종료/해지 시 기록 — end_date(약정 종료일)와 구분(FR-Contract-06)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(SALES 도메인)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 : 필수 참조(Not Null FK) · 점선 : 선택 참조/텍스트 연결 · 회색 상자 : 타 도메인 테이블(참조 관계 표시용)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" y="1188720"/>
            <a:ext cx="263347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system_company / entity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51790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company_id /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(SYSTEM 도메인)
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" y="2926080"/>
            <a:ext cx="263347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system_employee (직원)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32552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employee_Id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담당자 참조
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2651760" cy="1188720"/>
          </a:xfrm>
          <a:prstGeom prst="roundRect">
            <a:avLst>
              <a:gd name="adj" fmla="val 3846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" y="4663440"/>
            <a:ext cx="263347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63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partner_client (고객사)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499262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client_id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(PARTNER 도메인)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06240" y="1554480"/>
            <a:ext cx="29260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15384" y="1554480"/>
            <a:ext cx="29077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sales_pipeline (파이프라인)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15968" y="1883664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pipeline_id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employee_Id (담당자)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pipeline_type · client_name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(Lead~Closed/Canceled)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created/adjusted/closed_date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contract_id (계약 연결)
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0" y="4434840"/>
            <a:ext cx="2926080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15384" y="4434840"/>
            <a:ext cx="29077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sales_pipeline_detail (액티비티)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15968" y="4764024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activity_id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company·entity·pipeline_id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 · content · incharge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attached · created_date
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229600" y="1554480"/>
            <a:ext cx="320040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8744" y="1554480"/>
            <a:ext cx="318211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sales_contract (계약)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39328" y="1883664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contract_id + contract_type
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ledger_date · ledger_no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client_id → partner_client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pipeline_id (연결)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start/end/closed_date · status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contract_amount
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29600" y="4663440"/>
            <a:ext cx="3200400" cy="1188720"/>
          </a:xfrm>
          <a:prstGeom prst="roundRect">
            <a:avLst>
              <a:gd name="adj" fmla="val 3846"/>
            </a:avLst>
          </a:prstGeom>
          <a:solidFill>
            <a:srgbClr val="F5F6FA"/>
          </a:solidFill>
          <a:ln w="12700">
            <a:solidFill>
              <a:srgbClr val="8A93B8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38744" y="4663440"/>
            <a:ext cx="3182112" cy="274320"/>
          </a:xfrm>
          <a:prstGeom prst="rect">
            <a:avLst/>
          </a:prstGeom>
          <a:solidFill>
            <a:srgbClr val="8A93B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finance_ledger_head (전표)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39328" y="499262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ledger_date + ledger_no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(FINANCE 도메인)
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0" y="1783080"/>
            <a:ext cx="1005840" cy="914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063240" y="1536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(회사→파이프라인)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 flipV="1">
            <a:off x="3200400" y="3017520"/>
            <a:ext cx="1005840" cy="50292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246120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0..1:N (담당자)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669280" y="3749040"/>
            <a:ext cx="914" cy="68580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806440" y="40233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(파이프라인→액티비티)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32320" y="2377440"/>
            <a:ext cx="1097280" cy="914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400800" y="2121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(contract_id ↔ pipeline_id)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874520" y="4114800"/>
            <a:ext cx="914" cy="54864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74520" y="4114800"/>
            <a:ext cx="6720840" cy="914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595360" y="3931920"/>
            <a:ext cx="914" cy="18288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2103120" y="38770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(고객사→계약, client_id)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784080" y="3931920"/>
            <a:ext cx="914" cy="73152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9921240" y="4206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0..1 (전표 연결)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파이프라인의 고객사는 client_name 텍스트 저장(client_id 미보유) — 계약 연결 시 고객사명 일치 검증으로 정합성 확보(FR-Pipe-04, FR-Contract-05).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3-1. SALES 도메인 ERD — 파이프라인·계약은 상호 연결되고, 계약은 고객사(필수)·전표(선택)를 참조한다.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프로세스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4-1. 메뉴 구조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11338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286000"/>
                <a:gridCol w="1645920"/>
                <a:gridCol w="246888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Lv2 (메뉴)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테이블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SCR-SLS-01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sales_pipeline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FR-Pipe-01~09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UC-Pipe-01~08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액티비티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SCR-SLS-02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sales_pipeline_detail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FR-Act-01~07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UC-Act-01~05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SCR-SLS-03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sales_contract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FR-Contract-01~09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UC-Contract-01~08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834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4-2. 영업 프로세스 (파이프라인 → 계약 → 전표)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24612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246120"/>
            <a:ext cx="16916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등록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(영업기회)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148840" y="324612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41448" y="324612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41448" y="3246120"/>
            <a:ext cx="16916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액티비티 기록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(메일·전화·미팅)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133088" y="324612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25696" y="324612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25696" y="3246120"/>
            <a:ext cx="16916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진행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 → Nego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17336" y="324612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9944" y="324612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9944" y="3246120"/>
            <a:ext cx="16916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등록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(고객사 필수)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101584" y="324612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394192" y="324612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94192" y="3246120"/>
            <a:ext cx="16916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파이프라인-계약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 연결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085832" y="324612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378440" y="3246120"/>
            <a:ext cx="1691640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78440" y="3246120"/>
            <a:ext cx="169164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전표 연결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(FINANCE)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11480" y="4343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4-3. 파이프라인 스테이지 흐름 (FR-Pipe-07)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475488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75488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Lead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691640" y="47548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947672" y="475488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47672" y="475488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Qualified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182112" y="47548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438144" y="475488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38144" y="475488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Suggest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672584" y="47548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928616" y="475488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928616" y="475488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Meeting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163056" y="47548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19088" y="475488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19088" y="475488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Nego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653528" y="47548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909560" y="475488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09560" y="475488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Closed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9144000" y="4754880"/>
            <a:ext cx="256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9400032" y="4754880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00032" y="4754880"/>
            <a:ext cx="1234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Canceled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11480" y="5577840"/>
            <a:ext cx="11338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종료 처리 : 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Closed 또는 Canceled 전환 시 closed_date 설정. 재오픈 허용 시 다른 단계로 변경하며 closed_date를 비움(UC-Pipe-06)
</a:t>
            </a:r>
            <a:pPr indent="0" marL="0">
              <a:lnSpc>
                <a:spcPts val="19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삭제 정책 : 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액티비티가 존재하거나 계약이 연결된 파이프라인은 삭제 불가(FR-Pipe-09). 계약은 파이프라인/전표 연결 존재 시 삭제 불가(UC-Contract-08)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SCR-SLS-01 파이프라인 관리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SALES &gt; 파이프라인 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55955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559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PL2601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5595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18688" y="139903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고객사명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40480" y="1467612"/>
            <a:ext cx="10972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67912" y="146761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5604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66944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97296" y="1467612"/>
            <a:ext cx="10058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24728" y="1467612"/>
            <a:ext cx="960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21424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26680" y="1467612"/>
            <a:ext cx="8686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54112" y="146761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61364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0624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목록 (Head)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4965192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777240"/>
                <a:gridCol w="685800"/>
                <a:gridCol w="1325880"/>
                <a:gridCol w="777240"/>
                <a:gridCol w="10515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PL2601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 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PL2602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블루밍코스메틱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Meeting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E1021 최민재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PL2603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데일리푸드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 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5" name="Shape 42"/>
          <p:cNvSpPr/>
          <p:nvPr/>
        </p:nvSpPr>
        <p:spPr>
          <a:xfrm>
            <a:off x="6080760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153912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상세 (Detail)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④</a:t>
            </a:r>
            <a:endParaRPr lang="en-US" sz="8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4151376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PL2601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· 대행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(주)라이언커머스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· Nego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 · 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생성일 / 최종수정일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2026-05-02 / 2026-08-10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마감일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  [ 계약 연결… ]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⑦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3분기 대행 확장 협의 중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Shape 44"/>
          <p:cNvSpPr/>
          <p:nvPr/>
        </p:nvSpPr>
        <p:spPr>
          <a:xfrm>
            <a:off x="6080760" y="1746504"/>
            <a:ext cx="914" cy="381304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411480" y="58978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5-1-A. 파이프라인 관리 메인 (UC-Pipe-01, UC-Pipe-02) — 다음 슬라이드에 번호별 설명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관리 — 번호별 설명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→ 동일 그룹/회사의 partner_client 목록에서 선택(FR-Pipe-04). sales_pipeline에 client_id가 없으므로 선택한 고객사의 client_name을 텍스트로 저장·조회한다.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→ 동일 그룹/회사 소속 직원(FR-Pipe-05). 비활성(inactive) 직원은 신규 담당자 선택 목록에서 제외.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/ Lead / Qualified Lead / Suggest / Meeting / Nego / Closed / Canceled (FR-Pipe-07).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필수값 : 그룹·회사·파이프라인 코드·유형·스테이지(FR-Pipe-03). 수정 시 pipeline_id·상위조직 읽기전용, 저장 시 adjusted_date 자동 갱신(FR-Pipe-06).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선택(①과 동일 팝업). 다른 회사의 고객 선택 시 저장 차단(UC-Pipe-03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 변경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Closed/Canceled 전환 시 closed_date를 설정하고 저장(UC-Pipe-06). 재오픈 시 정책에 따라 closed_date를 비움.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연결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[계약 연결…] → 계약 선택 팝업(다음 슬라이드). 동일 그룹/회사의 sales_contract만, 파이프라인 고객사명과 계약 고객사의 일치 검증(FR-Pipe-08).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5074920"/>
            <a:ext cx="11338560" cy="54864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파이프라인 삭제(UC-Pipe-08) : 하위 액티비티(sales_pipeline_detail) 존재 또는 계약 연결 시 삭제 차단(FR-Pipe-09). 공통 신규/수정/삭제 프로세스는 SYSTEM 편 5-1-C·D 준용.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연결 팝업 — 화면 5-1-B · 데이터 변경 프로세스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85216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57784" y="960120"/>
            <a:ext cx="583387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0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선택 — PL2601 (주)라이언커머스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807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" y="3648456"/>
            <a:ext cx="583387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369417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36941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9744" y="369417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36941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" y="1234440"/>
            <a:ext cx="5632704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61288" y="1303020"/>
            <a:ext cx="123444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30302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 · FST-KR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14016" y="1280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4912" y="123444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계약코드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9272" y="1303020"/>
            <a:ext cx="9144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6704" y="130302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39512" y="1289304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12893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737360"/>
          <a:ext cx="53035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960120"/>
                <a:gridCol w="731520"/>
                <a:gridCol w="1417320"/>
                <a:gridCol w="1051560"/>
                <a:gridCol w="7772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CT2026-01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Agency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26.01~26.12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CT2026-05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Marketing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블루밍코스메틱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26.03~26.08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04088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불일치 계약 선택 시 연결 차단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960120"/>
          <a:ext cx="50292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361188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범위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그룹/회사의 sales_contract만 표시(FR-Pipe-08).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일치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계약의 고객사(client_id의 고객사명)와 파이프라인 client_name 일치 여부 검증. 불일치 시 연결하지 않고 안내(UC-Pipe-07 예외).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sales_pipeline.contract_id에 계약코드 저장(편집 상태) → [저장] 시 확정. 계약 화면(5-3)에서는 역방향으로 pipeline_id를 연결(UC-Contract-04).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11480" y="42062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5-1-B. 계약 연결 (FR-Pipe-08, UC-Pipe-07)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22960" y="46634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2296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[계약 연결…]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651760" y="4663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971800" y="46634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97180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회사 계약 조회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800600" y="4663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120640" y="46634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2064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일치 검증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949440" y="4663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7269480" y="46634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26948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contract_id 입력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9098280" y="466344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9418320" y="466344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418320" y="4663440"/>
            <a:ext cx="1828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[저장] 확정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11480" y="5440680"/>
            <a:ext cx="11338560" cy="54864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 종료 처리(UC-Pipe-06) : stage를 Closed/Canceled로 변경·저장 → 시스템이 closed_date 설정. 재오픈 허용 시 다른 단계로 변경하며 closed_date를 비운다. 종료 상태에서도 계약 연결 정보는 유지된다.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SCR-SLS-02 고객 액티비티 관리 — 메인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액티비티 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SALES &gt; 고객 액티비티 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55371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55371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: PL2601 · 액티비티 3건 · 선택 : A-0003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5537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18688" y="139903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*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0" y="1467612"/>
            <a:ext cx="1920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50792" y="1467612"/>
            <a:ext cx="1874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PL2601 · (주)라이언커머스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6188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2784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활동타입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67144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94576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0624" y="1746504"/>
            <a:ext cx="6226150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" y="1746504"/>
            <a:ext cx="6079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액티비티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54406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68680"/>
                <a:gridCol w="594360"/>
                <a:gridCol w="2377440"/>
                <a:gridCol w="9144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액티비티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활동내역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A-0001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07-14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캠페인 제안서 송부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 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A-0002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07-22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견적 범위 협의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김하늘 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A-0003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08-05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3분기 대행 범위 · 단가 협상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이준호 이사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</a:tbl>
          </a:graphicData>
        </a:graphic>
      </p:graphicFrame>
      <p:sp>
        <p:nvSpPr>
          <p:cNvPr id="40" name="Shape 37"/>
          <p:cNvSpPr/>
          <p:nvPr/>
        </p:nvSpPr>
        <p:spPr>
          <a:xfrm>
            <a:off x="6646774" y="1746504"/>
            <a:ext cx="509412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19926" y="1746504"/>
            <a:ext cx="4947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액티비티 상세 (Detail)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3934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722522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액티비티 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A-0003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생성일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타입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 · 미팅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활동내역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3분기 대행 범위·단가 협상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상대방 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이준호 이사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 링크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drive/…/meeting_0805.pdf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Shape 39"/>
          <p:cNvSpPr/>
          <p:nvPr/>
        </p:nvSpPr>
        <p:spPr>
          <a:xfrm>
            <a:off x="6646774" y="1746504"/>
            <a:ext cx="914" cy="280720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11480" y="48920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5-2-A. 선택 파이프라인의 액티비티 목록/상세 (UC-Act-01)</a:t>
            </a:r>
            <a:endParaRPr lang="en-US" sz="9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2578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(선행조건)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파이프라인이 선택되어야 액티비티를 조회(UC-Act-01 전제). 미선택 시 조회하지 않고 선행 선택 안내. F2/Enter로 파이프라인 선택.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액티비티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sales_pipeline_detail을 pipeline_id별 조회(FR-Act-01). 타입 : 메일/전화/미팅/기타(FR-Act-04).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액티비티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필수 : 액티비티 코드(시스템 생성 가능)·활동 타입(FR-Act-03). activity_id·상위 파이프라인은 수정 불가(FR-Act-05). 생성일은 현재일 기본값.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 링크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varchar(250) 링크/경로 검증(FR-Act-06). 형식 위반·250자 초과 시 저장 차단(UC-Act-04 예외). 삭제는 activity_id 단위, 파이프라인 유지(FR-Act-07).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SCR-SLS-03 계약관리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SALES &gt; 계약관리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55955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559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CT2026-01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5595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18688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749040" y="1467612"/>
            <a:ext cx="12344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76472" y="1467612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0176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12664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계약코드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07024" y="1467612"/>
            <a:ext cx="9144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34456" y="1467612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1399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42632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70064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0624" y="1746504"/>
            <a:ext cx="5320528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1746504"/>
            <a:ext cx="517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목록 (Head)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46634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731520"/>
                <a:gridCol w="1280160"/>
                <a:gridCol w="1143000"/>
                <a:gridCol w="64008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CT2026-01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Agency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26.01~26.12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CT2026-05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Marketing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블루밍코스메틱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26.03~26.08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CT2025-11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Sourcing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데일리푸드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25.06~26.05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5741152" y="1746504"/>
            <a:ext cx="5999744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14304" y="1746504"/>
            <a:ext cx="585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상세 (Detail)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78312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765432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C001 · (주)라이언커머스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③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CT2026-01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계약유형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· Agency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PL2601  [ 연결… ]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시작일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2026-01-01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종료일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2026-12-31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86744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02592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계약상태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· Active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계약금액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120,000,000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종료일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전표일자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2026-01-05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⑦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전표 연결…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Shape 42"/>
          <p:cNvSpPr/>
          <p:nvPr/>
        </p:nvSpPr>
        <p:spPr>
          <a:xfrm>
            <a:off x="5741152" y="1746504"/>
            <a:ext cx="914" cy="381304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11480" y="58978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5-3-A. 계약관리 메인 (UC-Contract-01) — 다음 슬라이드에 번호별 설명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계약관리 — 번호별 설명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→ 동일 회사의 활성(active) 고객사만 표시(FR-Contract-04, UC-Contract-03). 활성 고객사 없으면 "결과 없음" 상태.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상세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필수 : 그룹·회사·고객사·계약코드·계약유형·시작일·종료일·상태(FR-Contract-03). 수정 시 식별키(contract_id, contract_type)·상위조직 읽기전용(FR-Contract-09).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비활성 고객사는 신규 계약 선택에서 제외(FR-Contract-04). 저장 시 client_id 연결(UC-Contract-03).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연결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선행 선택 후 팝업 진입(UC-Contract-04). 동일 그룹/회사 파이프라인만 표시, 파이프라인 고객사명 = 계약 고객사명 일치 검증(FR-Contract-05).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관리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start_date ≤ end_date 검증(FR-Contract-06). 실제 종료일(closed_date)은 실제 종료/해지 시 별도 기록 — 약정 종료일(end_date)과 구분(UC-Contract-05).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계약상태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 / Inactive / Suspend 코드체계(FR-Contract-07). 허용 외 상태값 저장 차단(UC-Contract-05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전표 연결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ledger_date와 ledger_no는 둘 다 입력하거나 둘 다 공란(FR-Contract-08). 입력 시 동일 그룹/회사의 finance_ledger_head 존재 검증 — 하나만 입력하거나 전표 미존재 시 저장 차단(UC-Contract-06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5074920"/>
            <a:ext cx="11338560" cy="54864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계약 삭제(UC-Contract-08) : 파이프라인/전표 연결 확인 → 연결 존재 시 삭제 차단. 계약 수정 시 연결된 파이프라인 정보의 정합성 유지(FR-Contract-09).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연결 팝업 · 검증 오류 — 화면 5-3-B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576072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57784" y="960120"/>
            <a:ext cx="574243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0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선택 — CT2026-01 (주)라이언커머스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98932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" y="3465576"/>
            <a:ext cx="574243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351129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35112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18304" y="351129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35112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" y="1234440"/>
            <a:ext cx="5541264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2344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61288" y="1303020"/>
            <a:ext cx="123444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30302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 · FST-KR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14016" y="1280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48072" y="1289304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128930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709928"/>
          <a:ext cx="4114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777240"/>
                <a:gridCol w="685800"/>
                <a:gridCol w="146304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PL2601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(주)라이언커머스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Nego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PL2602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블루밍코스메틱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Meeting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04088" y="27432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en-US" sz="850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PL2602 선택 시 → "고객사가 일치하지 않아 연결할 수 없습니다" 안내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57607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" y="4160520"/>
            <a:ext cx="574243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불가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8932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7784" y="5248656"/>
            <a:ext cx="574243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0" y="529437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0" y="52943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8368" y="4434840"/>
            <a:ext cx="5541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시작일(2026-12-01)이 종료일(2026-06-30)보다 늦습니다.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기간을 확인하세요. (FR-Contract-06)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960120"/>
          <a:ext cx="51206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60120"/>
                <a:gridCol w="370332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범위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그룹/회사 파이프라인만 표시(FR-Contract-05). 고객사 선행 선택이 전제(UC-Contract-04).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 일치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client_name과 계약 고객사의 고객사명 일치 검증 — 불일치 시 연결 차단·안내(UC-Contract-04 예외). 연결 성공 시 양방향(파이프라인 contract_id ↔ 계약 pipeline_id) 정합성 유지.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검증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시 start_date &gt; end_date이면 저장 차단(UC-Contract-02 예외). 전표 연결의 짝 입력 규칙(둘 다/공란)도 동일 시점 검증(FR-Contract-08).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411480" y="58064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5-3-B. 파이프라인 연결 검증(UC-Contract-04) 및 기간 검증 오류(UC-Contract-02 예외)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6-1. 공통 · 6-2. 파이프라인 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이벤트 (SYSTEM 편 EVT-COM-01~12 전 화면 준용 — 요약)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툴바/Head/조건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조회·신규·수정·저장·삭제·취소, Head/Detail 연동, F2/Enter 검색, 상위조건 종속 초기화, 미저장 보호 — SYSTEM 편 6-1과 동일 적용.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FR-UI-01~07 / UC-UI-01~05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13969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SCR-SLS-01 파이프라인 관리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450592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EVT-L01-01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 partner_client 조회 → client_name 텍스트 저장.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FR-Pipe-04 / UC-Pipe-04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EVT-L01-02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 직원 조회. inactive 제외.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FR-Pipe-05 / UC-Pipe-04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EVT-L01-03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필수값(코드·유형·스테이지)+타 회사 고객/직원 차단 검증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FR-Pipe-03 / UC-Pipe-03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EVT-L01-04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pipeline_id·상위조직 읽기전용. UPDATE 시 adjusted_date 자동 갱신.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FR-Pipe-06 / UC-Pipe-05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EVT-L01-05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Change+저장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Closed/Canceled 전환 시 closed_date 설정. 재오픈 시 closed_date 초기화.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FR-Pipe-07 / UC-Pipe-06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EVT-L01-06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[계약 연결…]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선택 팝업(5-1-B) → 동일 회사+고객사 일치 검증 → contract_id 연결.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FR-Pipe-08 / UC-Pipe-07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EVT-L01-07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액티비티 존재/계약 연결 확인 → 존재 시 삭제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FR-Pipe-09 / UC-Pipe-08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6-3. 고객 액티비티 관리 · 6-4. 계약관리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SCR-SLS-02 고객 액티비티 관리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EVT-L02-01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 선행 선택. 미선택 시 액티비티 조회 미수행.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FR-Act-01 / UC-Act-01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EVT-L02-02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activity_id(시스템 생성 가능) 중복 차단, 활동 타입 필수. 생성일 현재일 기본.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FR-Act-03·04 / UC-Act-02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EVT-L02-03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activity_id·상위 파이프라인 변경 불가. 내용·상대방·첨부링크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FR-Act-05 / UC-Act-03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EVT-L02-04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첨부 링크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Blur/저장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링크/경로 형식·250자 검증. 위반 시 저장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FR-Act-06 / UC-Act-04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EVT-L02-05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후 해당 activity_id 단위 삭제. 파이프라인 본체 유지.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FR-Act-07 / UC-Act-05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4564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SCR-SLS-03 계약관리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67328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868680"/>
                <a:gridCol w="5989320"/>
                <a:gridCol w="2194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EVT-L03-01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 활성 고객사만 표시 → client_id 연결.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FR-Contract-04 / UC-Contract-03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EVT-L03-02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[파이프라인 연결…]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 파이프라인 팝업(5-3-B) → 고객사명 일치 검증 → pipeline_id 연결.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FR-Contract-05 / UC-Contract-04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EVT-L03-03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Blur/저장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start_date ≤ end_date 검증. 실제 종료 시 closed_date 별도 기록.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FR-Contract-06 / UC-Contract-05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EVT-L03-04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Change+저장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Active/Inactive/Suspend 허용 코드만 저장.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FR-Contract-07 / UC-Contract-05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EVT-L03-05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[전표 연결…]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ledger_date·ledger_no 짝 입력 규칙 + 동일 회사 전표 존재 검증 → 연결.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FR-Contract-08 / UC-Contract-06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EVT-L03-06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[저장](신규/수정)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 검증, 식별키·상위조직 변경 차단 → INSERT/UPDATE.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FR-Contract-03·09 / UC-Contract-02·07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EVT-L03-07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파이프라인/전표 연결 확인 → 연결 존재 시 삭제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FR-Contract-09 / UC-Contract-08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2026-08-12T08:26:43Z</dcterms:created>
  <dcterms:modified xsi:type="dcterms:W3CDTF">2026-08-12T08:26:43Z</dcterms:modified>
</cp:coreProperties>
</file>