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23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4572000" cy="320040"/>
          </a:xfrm>
          <a:prstGeom prst="rect">
            <a:avLst/>
          </a:prstGeom>
          <a:solidFill>
            <a:srgbClr val="EEF0FA"/>
          </a:solidFill>
          <a:ln w="9525">
            <a:solidFill>
              <a:srgbClr val="D7DBE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· 화면설계 산출물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2011680"/>
            <a:ext cx="10058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</a:t>
            </a:r>
            <a:endParaRPr lang="en-US" sz="38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38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도메인 화면기획서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822960" y="3794760"/>
            <a:ext cx="1280160" cy="640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40690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관리 · 고객 액티비티 관리 · 계약관리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484632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구성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Table 리스트  ② Table 내역서  ③ ERD  ④ 메뉴 프로세스  ⑤ 화면 기획서  ⑥ 이벤트 내역서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문서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AX_Bridge_FR_UC_UI_Standardized.xlsx (Sales 테이블명세 · FR · UC)
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2026-08-12      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버전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v1.0 (Draft)      </a:t>
            </a:r>
            <a:pPr indent="0" marL="0">
              <a:lnSpc>
                <a:spcPts val="2200"/>
              </a:lnSpc>
              <a:buNone/>
            </a:pPr>
            <a:r>
              <a:rPr lang="en-US" sz="12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UI 표준 : 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도메인 화면기획서 4-3 및 FR-UI-01~07 준용
</a:t>
            </a:r>
            <a:pPr indent="0" marL="0">
              <a:lnSpc>
                <a:spcPts val="22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화면 내 데이터는 기획 검토용 임시(더미) 데이터입니다.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리스트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1323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 도메인은 영업기회(파이프라인) → 영업활동(액티비티) → 계약으로 이어지는 영업 프로세스 3개 테이블로 구성된다.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1737360"/>
                <a:gridCol w="1280160"/>
                <a:gridCol w="3108960"/>
                <a:gridCol w="3566160"/>
                <a:gridCol w="1188720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Table Name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논리명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주요 Key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사용 메뉴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sales_pipeline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pipeline_id / FK company·entity·employee_Id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영업기회 마스터. 유형·고객사명·스테이지·담당자·일정과 계약 연결(contract_id)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sales_pipeline_detail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액티비티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activity_id / FK company·entity·pipeline_id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파이프라인별 영업활동 이력. 활동 타입·내용·상대방 담당자·첨부링크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액티비티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sales_contract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 contract_id+contract_type(+전표키) / FK client_id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계약 마스터. 기간·상태·금액과 파이프라인/전표(finance_ledger_head) 연결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356616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코드체계</a:t>
            </a:r>
            <a:endParaRPr lang="en-US" sz="13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931920"/>
          <a:ext cx="113385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8046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컬럼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코드값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pipeline_type (파이프라인 유형)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대행 · 1 : 사입 · 2 : 리테일 · 3 : 마케팅 · 4 : 기타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stage (파이프라인 스테이지)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Lead · 1 : Qualified Lead · 2 : Suggest · 3 : Meeting · 4 : Nego · 5 : Closed · 6 : Canceled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 (활동 타입)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메일 · 1 : 전화 · 2 : 미팅 · 3 : 기타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contract_type (계약 유형)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Agency · 1 : Sourcing · 2 : Marketing · 3 : Logistics · 4 : Retail · 5 : ETC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 (계약 상태)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Active · 1 : Inactive · 2 : Suspend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(1/3) — sales_pipeline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2-1. sales_pipeline (파이프라인)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580287"/>
                <a:gridCol w="1580287"/>
                <a:gridCol w="444456"/>
                <a:gridCol w="987679"/>
                <a:gridCol w="1876591"/>
                <a:gridCol w="592608"/>
                <a:gridCol w="543224"/>
                <a:gridCol w="335811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pipeline_id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pipeline_type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유형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대행, 1 : 사입, 2 : 리테일, 3 : 마케팅, 4 : 기타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client_name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이름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client_id 미보유 — partner_client.client_name을 텍스트로 저장(FR-Pipe-04)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stage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스테이지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varchar(40)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Lead, 1 : Qualified Lead, 2 : Suggest, 3 : Meeting, 4 : Nego, 5 : Closed, 6 : Canceled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 아이디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system_employee/employee_Id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varchar(255)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생성일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adjusted_date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최종 수정일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 저장 시 자동 갱신(FR-Pipe-06)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마감일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Closed/Canceled 전환 시 설정(FR-Pipe-07)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contract_id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sales_contract.contract_id(varchar(20)) 와 길이를 맞춘다 — 연결 FK 대상.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(2/3) — sales_pipeline_detail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2-2. sales_pipeline_detail (고객 액티비티)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580287"/>
                <a:gridCol w="1580287"/>
                <a:gridCol w="444456"/>
                <a:gridCol w="987679"/>
                <a:gridCol w="1876591"/>
                <a:gridCol w="592608"/>
                <a:gridCol w="543224"/>
                <a:gridCol w="335811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pipeline_id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액티비티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시스템 생성 또는 고유값 입력. 액티비티 수정/삭제 식별키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created_date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 생성일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등록 시 현재일 기본 설정 가능(FR-Act-04)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 타입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varchar(30)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메일, 1 : 전화, 2 : 미팅, 3 : 기타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content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활동내역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incharge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상대방 담당자 이름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attached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첨부화일 링크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varchar(250)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링크/경로 형식·250자 검증(FR-Act-06)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5029200"/>
            <a:ext cx="11338560" cy="54864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액티비티는 파이프라인 종속 데이터로, 파이프라인 삭제 시 액티비티 존재 여부를 먼저 확인한다(FR-Pipe-09). 액티비티 삭제는 activity_id 단위이며 파이프라인 본체는 유지된다(FR-Act-07).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Table 내역서 (3/3) — sales_contract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832104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2-3. sales_contract (계약)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38560" cy="914400"/>
        </p:xfrm>
        <a:graphic>
          <a:graphicData uri="http://schemas.openxmlformats.org/drawingml/2006/table">
            <a:tbl>
              <a:tblPr/>
              <a:tblGrid>
                <a:gridCol w="375318"/>
                <a:gridCol w="1580287"/>
                <a:gridCol w="1580287"/>
                <a:gridCol w="444456"/>
                <a:gridCol w="987679"/>
                <a:gridCol w="1876591"/>
                <a:gridCol w="592608"/>
                <a:gridCol w="543224"/>
                <a:gridCol w="335811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Column-Physical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Column-Logical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Key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Reference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Default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Remark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system_company/company_id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회사코드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system_entity/entity_id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client_id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1155C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partner_client/client_id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contract_id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t>sales_contract.contract_id(varchar(20)) 와 길이를 맞춘다 — 연결 FK 대상.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contract_type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유형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Agency, 1 : Sourcing, 2 : Marketing, 3 : Logistics, 4 : Retail, 5 : ETC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pipeline_id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코드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 파이프라인 연결, 고객사명 일치 검증(FR-Contract-05)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시작일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end_date보다 늦을 수 없음(FR-Contract-06)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end_date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종료일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상태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varchar(10)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Not Null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: Active, 1 : Inactive, 2 : Suspend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contract_amount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금액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numeric(18,2)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t>금액 컬럼은 numeric(18,2) 로 통일한다(지침 §8 금액).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전표일자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finance_ledger_head/ledger_date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ledger_no와 함께 입력 또는 함께 공란(FR-Contract-08)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전표번호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B423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PK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numeric(10,2)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finance_ledger_head/ledger_no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closed_date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종료일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Date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종료/해지 시 기록 — end_date(약정 종료일)와 구분(FR-Contract-06)</a:t>
                      </a:r>
                      <a:endParaRPr lang="en-US" sz="7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ERD (SALES 도메인)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676656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 : 필수 참조(Not Null FK) · 점선 : 선택 참조/텍스트 연결 · 회색 상자 : 타 도메인 테이블(참조 관계 표시용)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651760" cy="1188720"/>
          </a:xfrm>
          <a:prstGeom prst="roundRect">
            <a:avLst>
              <a:gd name="adj" fmla="val 3846"/>
            </a:avLst>
          </a:prstGeom>
          <a:solidFill>
            <a:srgbClr val="F5F6FA"/>
          </a:solidFill>
          <a:ln w="12700">
            <a:solidFill>
              <a:srgbClr val="8A93B8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57784" y="1188720"/>
            <a:ext cx="2633472" cy="274320"/>
          </a:xfrm>
          <a:prstGeom prst="rect">
            <a:avLst/>
          </a:prstGeom>
          <a:solidFill>
            <a:srgbClr val="8A93B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188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system_company / entity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58368" y="151790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company_id /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(SYSTEM 도메인)
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2651760" cy="1188720"/>
          </a:xfrm>
          <a:prstGeom prst="roundRect">
            <a:avLst>
              <a:gd name="adj" fmla="val 3846"/>
            </a:avLst>
          </a:prstGeom>
          <a:solidFill>
            <a:srgbClr val="F5F6FA"/>
          </a:solidFill>
          <a:ln w="12700">
            <a:solidFill>
              <a:srgbClr val="8A93B8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7784" y="2926080"/>
            <a:ext cx="2633472" cy="274320"/>
          </a:xfrm>
          <a:prstGeom prst="rect">
            <a:avLst/>
          </a:prstGeom>
          <a:solidFill>
            <a:srgbClr val="8A93B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9260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system_employee (직원)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" y="325526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employee_Id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담당자 참조
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4663440"/>
            <a:ext cx="2651760" cy="1188720"/>
          </a:xfrm>
          <a:prstGeom prst="roundRect">
            <a:avLst>
              <a:gd name="adj" fmla="val 3846"/>
            </a:avLst>
          </a:prstGeom>
          <a:solidFill>
            <a:srgbClr val="F5F6FA"/>
          </a:solidFill>
          <a:ln w="12700">
            <a:solidFill>
              <a:srgbClr val="8A93B8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57784" y="4663440"/>
            <a:ext cx="2633472" cy="274320"/>
          </a:xfrm>
          <a:prstGeom prst="rect">
            <a:avLst/>
          </a:prstGeom>
          <a:solidFill>
            <a:srgbClr val="8A93B8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46634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partner_client (고객사)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4992624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client_id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(PARTNER 도메인)
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06240" y="1554480"/>
            <a:ext cx="2926080" cy="219456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215384" y="1554480"/>
            <a:ext cx="290779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18" name="Text 16"/>
          <p:cNvSpPr/>
          <p:nvPr/>
        </p:nvSpPr>
        <p:spPr>
          <a:xfrm>
            <a:off x="4206240" y="15544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sales_pipeline (파이프라인)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15968" y="1883664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pipeline_id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employee_Id (담당자)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pipeline_type · client_name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stage (Lead~Closed/Canceled)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created/adjusted/closed_date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contract_id (계약 연결)
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206240" y="4434840"/>
            <a:ext cx="2926080" cy="164592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215384" y="4434840"/>
            <a:ext cx="290779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22" name="Text 20"/>
          <p:cNvSpPr/>
          <p:nvPr/>
        </p:nvSpPr>
        <p:spPr>
          <a:xfrm>
            <a:off x="4206240" y="4434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sales_pipeline_detail (액티비티)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315968" y="4764024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activity_id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company·entity·pipeline_id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 · content · incharge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attached · created_date
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229600" y="1554480"/>
            <a:ext cx="3200400" cy="2377440"/>
          </a:xfrm>
          <a:prstGeom prst="roundRect">
            <a:avLst>
              <a:gd name="adj" fmla="val 1923"/>
            </a:avLst>
          </a:prstGeom>
          <a:solidFill>
            <a:srgbClr val="FFFFFF"/>
          </a:solidFill>
          <a:ln w="15875">
            <a:solidFill>
              <a:srgbClr val="2E3A87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38744" y="1554480"/>
            <a:ext cx="3182112" cy="274320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5544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sales_contract (계약)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39328" y="1883664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contract_id + contract_type
</a:t>
            </a:r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ledger_date · ledger_no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company_id · entity_id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155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FK client_id → partner_client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pipeline_id (연결)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start/end/closed_date · status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contract_amount
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229600" y="4663440"/>
            <a:ext cx="3200400" cy="1188720"/>
          </a:xfrm>
          <a:prstGeom prst="roundRect">
            <a:avLst>
              <a:gd name="adj" fmla="val 3846"/>
            </a:avLst>
          </a:prstGeom>
          <a:solidFill>
            <a:srgbClr val="F5F6FA"/>
          </a:solidFill>
          <a:ln w="12700">
            <a:solidFill>
              <a:srgbClr val="8A93B8"/>
            </a:solidFill>
            <a:prstDash val="solid"/>
          </a:ln>
          <a:effectLst>
            <a:outerShdw sx="100000" sy="100000" kx="0" ky="0" algn="bl" rotWithShape="0" blurRad="50800" dist="19050" dir="5400000">
              <a:srgbClr val="1E285A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238744" y="4663440"/>
            <a:ext cx="3182112" cy="274320"/>
          </a:xfrm>
          <a:prstGeom prst="rect">
            <a:avLst/>
          </a:prstGeom>
          <a:solidFill>
            <a:srgbClr val="8A93B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0" y="4663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finance_ledger_head (전표)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39328" y="4992624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85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 ledger_date + ledger_no
</a:t>
            </a:r>
            <a:pPr indent="0" marL="0">
              <a:lnSpc>
                <a:spcPts val="1300"/>
              </a:lnSpc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(FINANCE 도메인)
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200400" y="1783080"/>
            <a:ext cx="1005840" cy="914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33" name="Text 31"/>
          <p:cNvSpPr/>
          <p:nvPr/>
        </p:nvSpPr>
        <p:spPr>
          <a:xfrm>
            <a:off x="3063240" y="153619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(회사→파이프라인)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 flipV="1">
            <a:off x="3200400" y="3017520"/>
            <a:ext cx="1005840" cy="50292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35" name="Text 33"/>
          <p:cNvSpPr/>
          <p:nvPr/>
        </p:nvSpPr>
        <p:spPr>
          <a:xfrm>
            <a:off x="3246120" y="340156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0..1:N (담당자)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5669280" y="3749040"/>
            <a:ext cx="914" cy="68580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37" name="Text 35"/>
          <p:cNvSpPr/>
          <p:nvPr/>
        </p:nvSpPr>
        <p:spPr>
          <a:xfrm>
            <a:off x="5806440" y="4023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(파이프라인→액티비티)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132320" y="2377440"/>
            <a:ext cx="1097280" cy="914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39" name="Text 37"/>
          <p:cNvSpPr/>
          <p:nvPr/>
        </p:nvSpPr>
        <p:spPr>
          <a:xfrm>
            <a:off x="6400800" y="212140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 (contract_id ↔ pipeline_id)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874520" y="4114800"/>
            <a:ext cx="914" cy="54864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874520" y="4114800"/>
            <a:ext cx="6720840" cy="914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8595360" y="3931920"/>
            <a:ext cx="914" cy="182880"/>
          </a:xfrm>
          <a:prstGeom prst="line">
            <a:avLst/>
          </a:prstGeom>
          <a:noFill/>
          <a:ln w="19050">
            <a:solidFill>
              <a:srgbClr val="41508F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2103120" y="3877056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1:N (고객사→계약, client_id)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9784080" y="3931920"/>
            <a:ext cx="914" cy="731520"/>
          </a:xfrm>
          <a:prstGeom prst="line">
            <a:avLst/>
          </a:prstGeom>
          <a:noFill/>
          <a:ln w="19050">
            <a:solidFill>
              <a:srgbClr val="8A93B8"/>
            </a:solidFill>
            <a:prstDash val="dash"/>
            <a:tailEnd type="triangle"/>
          </a:ln>
        </p:spPr>
      </p:sp>
      <p:sp>
        <p:nvSpPr>
          <p:cNvPr id="45" name="Text 43"/>
          <p:cNvSpPr/>
          <p:nvPr/>
        </p:nvSpPr>
        <p:spPr>
          <a:xfrm>
            <a:off x="9921240" y="42062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0..1 (전표 연결)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548640" y="612648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파이프라인의 고객사는 client_name 텍스트 저장(client_id 미보유) — 계약 연결 시 고객사명 일치 검증으로 정합성 확보(FR-Pipe-04, FR-Contract-05).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411480" y="644652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 3-1. SALES 도메인 ERD — 파이프라인·계약은 상호 연결되고, 계약은 고객사(필수)·전표(선택)를 참조한다.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메뉴 프로세스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4-1. 메뉴 구조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97280"/>
          <a:ext cx="113385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286000"/>
                <a:gridCol w="1645920"/>
                <a:gridCol w="246888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Lv2 (메뉴)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 ID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 테이블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UC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SCR-SLS-01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sales_pipeline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FR-Pipe-01~09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UC-Pipe-01~08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 액티비티 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SCR-SLS-02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sales_pipeline_detail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FR-Act-01~07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UC-Act-01~05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계약관리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SCR-SLS-03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sales_contract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FR-Contract-01~09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UC-Contract-01~08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28346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4-2. 영업 프로세스 (파이프라인 → 계약 → 전표)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3246120"/>
            <a:ext cx="169164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57200" y="3246120"/>
            <a:ext cx="16916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등록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(영업기회)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2148840" y="3246120"/>
            <a:ext cx="292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41448" y="3246120"/>
            <a:ext cx="169164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441448" y="3246120"/>
            <a:ext cx="16916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액티비티 기록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(메일·전화·미팅)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4133088" y="3246120"/>
            <a:ext cx="292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425696" y="3246120"/>
            <a:ext cx="169164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425696" y="3246120"/>
            <a:ext cx="16916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 진행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 → Nego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6117336" y="3246120"/>
            <a:ext cx="292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9944" y="3246120"/>
            <a:ext cx="169164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9944" y="3246120"/>
            <a:ext cx="16916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등록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(고객사 필수)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101584" y="3246120"/>
            <a:ext cx="292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394192" y="3246120"/>
            <a:ext cx="1691640" cy="685800"/>
          </a:xfrm>
          <a:prstGeom prst="roundRect">
            <a:avLst>
              <a:gd name="adj" fmla="val 6667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394192" y="3246120"/>
            <a:ext cx="16916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파이프라인-계약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상호 연결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0085832" y="3246120"/>
            <a:ext cx="2926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378440" y="3246120"/>
            <a:ext cx="1691640" cy="685800"/>
          </a:xfrm>
          <a:prstGeom prst="roundRect">
            <a:avLst>
              <a:gd name="adj" fmla="val 6667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378440" y="3246120"/>
            <a:ext cx="1691640" cy="6858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전표 연결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(FINANCE)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411480" y="434340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4-3. 파이프라인 스테이지 흐름 (FR-Pipe-07)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7200" y="4754880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7200" y="475488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Lead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691640" y="475488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947672" y="4754880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947672" y="475488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 Qualified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Lead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3182112" y="475488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3438144" y="4754880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3438144" y="475488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Suggest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672584" y="475488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928616" y="4754880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28616" y="475488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Meeting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6163056" y="475488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419088" y="4754880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419088" y="475488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Nego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7653528" y="475488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7909560" y="4754880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909560" y="475488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Closed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9144000" y="4754880"/>
            <a:ext cx="256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9400032" y="4754880"/>
            <a:ext cx="1234440" cy="566928"/>
          </a:xfrm>
          <a:prstGeom prst="roundRect">
            <a:avLst>
              <a:gd name="adj" fmla="val 8065"/>
            </a:avLst>
          </a:prstGeom>
          <a:solidFill>
            <a:srgbClr val="EEF0FA"/>
          </a:solidFill>
          <a:ln w="15875">
            <a:solidFill>
              <a:srgbClr val="2E3A87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9400032" y="4754880"/>
            <a:ext cx="1234440" cy="5669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Canceled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411480" y="557784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0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종료 처리 : 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Closed 또는 Canceled 전환 시 closed_date 설정. 재오픈 허용 시 다른 단계로 변경하며 closed_date를 비움(UC-Pipe-06)
</a:t>
            </a:r>
            <a:pPr indent="0" marL="0">
              <a:lnSpc>
                <a:spcPts val="1900"/>
              </a:lnSpc>
              <a:buNone/>
            </a:pPr>
            <a:r>
              <a:rPr lang="en-US" sz="1000" b="1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삭제 정책 : </a:t>
            </a:r>
            <a:pPr indent="0" marL="0">
              <a:lnSpc>
                <a:spcPts val="1900"/>
              </a:lnSpc>
              <a:buNone/>
            </a:pPr>
            <a:r>
              <a:rPr lang="en-US" sz="10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액티비티가 존재하거나 계약이 연결된 파이프라인은 삭제 불가(FR-Pipe-09). 계약은 파이프라인/전표 연결 존재 시 삭제 불가(UC-Contract-08)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SCR-SLS-01 파이프라인 관리 — 메인(조회)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SALES &gt; 파이프라인 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555955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555955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PL2601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555955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400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8308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267712" y="146761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9514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18688" y="1399032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고객사명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840480" y="1467612"/>
            <a:ext cx="10972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867912" y="1467612"/>
            <a:ext cx="1051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95604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266944" y="13990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797296" y="1467612"/>
            <a:ext cx="10058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24728" y="1467612"/>
            <a:ext cx="9601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821424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7132320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726680" y="1467612"/>
            <a:ext cx="8686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754112" y="1467612"/>
            <a:ext cx="822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861364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20624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93776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목록 (Head)</a:t>
            </a:r>
            <a:endParaRPr lang="en-US" sz="8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2075688"/>
          <a:ext cx="4965192" cy="914400"/>
        </p:xfrm>
        <a:graphic>
          <a:graphicData uri="http://schemas.openxmlformats.org/drawingml/2006/table">
            <a:tbl>
              <a:tblPr/>
              <a:tblGrid>
                <a:gridCol w="347472"/>
                <a:gridCol w="777240"/>
                <a:gridCol w="685800"/>
                <a:gridCol w="1325880"/>
                <a:gridCol w="777240"/>
                <a:gridCol w="10515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스테이지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PL2601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(주)라이언커머스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Nego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 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PL2602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마케팅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블루밍코스메틱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Meeting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E1021 최민재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PL2603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데일리푸드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 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5" name="Shape 42"/>
          <p:cNvSpPr/>
          <p:nvPr/>
        </p:nvSpPr>
        <p:spPr>
          <a:xfrm>
            <a:off x="6080760" y="1746504"/>
            <a:ext cx="5660136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6153912" y="1746504"/>
            <a:ext cx="55138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상세 (Detail)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④</a:t>
            </a:r>
            <a:endParaRPr lang="en-US" sz="85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51376"/>
              </a:tblGrid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PL2601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· 대행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(주)라이언커머스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스테이지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 · Nego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E1005 · 박서연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생성일 / 최종수정일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2026-05-02 / 2026-08-10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마감일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  [ 계약 연결… ]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⑦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3분기 대행 확장 협의 중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8" name="Shape 44"/>
          <p:cNvSpPr/>
          <p:nvPr/>
        </p:nvSpPr>
        <p:spPr>
          <a:xfrm>
            <a:off x="6080760" y="1746504"/>
            <a:ext cx="914" cy="381304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11480" y="589788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5-1-A. 파이프라인 관리 메인 (UC-Pipe-01, UC-Pipe-02) — 다음 슬라이드에 번호별 설명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관리 — 번호별 설명</a:t>
            </a:r>
            <a:endParaRPr lang="en-US" sz="2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 → 동일 그룹/회사의 partner_client 목록에서 선택(FR-Pipe-04). sales_pipeline에 client_id가 없으므로 선택한 고객사의 client_name을 텍스트로 저장·조회한다.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 → 동일 그룹/회사 소속 직원(FR-Pipe-05). 비활성(inactive) 직원은 신규 담당자 선택 목록에서 제외.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스테이지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전체 / Lead / Qualified Lead / Suggest / Meeting / Nego / Closed / Canceled (FR-Pipe-07).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상세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필수값 : 그룹·회사·파이프라인 코드·유형·스테이지(FR-Pipe-03). 수정 시 pipeline_id·상위조직 읽기전용, 저장 시 adjusted_date 자동 갱신(FR-Pipe-06).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 (Detail)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 선택(①과 동일 팝업). 다른 회사의 고객 선택 시 저장 차단(UC-Pipe-03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스테이지 변경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Closed/Canceled 전환 시 closed_date를 설정하고 저장(UC-Pipe-06). 재오픈 시 정책에 따라 closed_date를 비움.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연결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[계약 연결…] → 계약 선택 팝업(다음 슬라이드). 동일 그룹/회사의 sales_contract만, 파이프라인 고객사명과 계약 고객사의 일치 검증(FR-Pipe-08).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11480" y="5074920"/>
            <a:ext cx="11338560" cy="54864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파이프라인 삭제(UC-Pipe-08) : 하위 액티비티(sales_pipeline_detail) 존재 또는 계약 연결 시 삭제 차단(FR-Pipe-09). 공통 신규/수정/삭제 프로세스는 SYSTEM 편 5-1-C·D 준용.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5-1.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연결 팝업 — 화면 5-1-B · 데이터 변경 프로세스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85216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57784" y="960120"/>
            <a:ext cx="583387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9601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선택 — PL2601 (주)라이언커머스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608076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7784" y="3648456"/>
            <a:ext cx="583387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577840" y="369417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0" y="369417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809744" y="369417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9744" y="369417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58368" y="1234440"/>
            <a:ext cx="5632704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12344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161288" y="1303020"/>
            <a:ext cx="123444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03020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 · FST-KR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414016" y="128016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724912" y="1234440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계약코드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319272" y="1303020"/>
            <a:ext cx="9144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46704" y="1303020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239512" y="1289304"/>
            <a:ext cx="914400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39512" y="12893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" y="1737360"/>
          <a:ext cx="530352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960120"/>
                <a:gridCol w="731520"/>
                <a:gridCol w="1417320"/>
                <a:gridCol w="1051560"/>
                <a:gridCol w="77724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CT2026-01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Agency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(주)라이언커머스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26.01~26.12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CT2026-05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Marketing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블루밍코스메틱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26.03~26.08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04088" y="2834640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buNone/>
            </a:pPr>
            <a:r>
              <a:rPr lang="en-US" sz="8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 불일치 계약 선택 시 연결 차단</a:t>
            </a:r>
            <a:endParaRPr lang="en-US" sz="10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960120"/>
          <a:ext cx="502920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611880"/>
              </a:tblGrid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범위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그룹/회사의 sales_contract만 표시(FR-Pipe-08).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일치 검증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 계약의 고객사(client_id의 고객사명)와 파이프라인 client_name 일치 여부 검증. 불일치 시 연결하지 않고 안내(UC-Pipe-07 예외).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sales_pipeline.contract_id에 계약코드 저장(편집 상태) → [저장] 시 확정. 계약 화면(5-3)에서는 역방향으로 pipeline_id를 연결(UC-Contract-04).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Text 21"/>
          <p:cNvSpPr/>
          <p:nvPr/>
        </p:nvSpPr>
        <p:spPr>
          <a:xfrm>
            <a:off x="411480" y="42062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5-1-B. 계약 연결 (FR-Pipe-08, UC-Pipe-07)</a:t>
            </a:r>
            <a:endParaRPr lang="en-US" sz="900" dirty="0"/>
          </a:p>
        </p:txBody>
      </p:sp>
      <p:sp>
        <p:nvSpPr>
          <p:cNvPr id="26" name="Shape 22"/>
          <p:cNvSpPr/>
          <p:nvPr/>
        </p:nvSpPr>
        <p:spPr>
          <a:xfrm>
            <a:off x="822960" y="466344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22960" y="4663440"/>
            <a:ext cx="18288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[계약 연결…]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2651760" y="46634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2971800" y="466344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971800" y="4663440"/>
            <a:ext cx="18288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회사 계약 조회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4800600" y="46634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5120640" y="466344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120640" y="4663440"/>
            <a:ext cx="18288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 일치 검증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949440" y="46634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5" name="Shape 31"/>
          <p:cNvSpPr/>
          <p:nvPr/>
        </p:nvSpPr>
        <p:spPr>
          <a:xfrm>
            <a:off x="7269480" y="466344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6" name="Text 32"/>
          <p:cNvSpPr/>
          <p:nvPr/>
        </p:nvSpPr>
        <p:spPr>
          <a:xfrm>
            <a:off x="7269480" y="4663440"/>
            <a:ext cx="18288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contract_id 입력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9098280" y="466344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93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38" name="Shape 34"/>
          <p:cNvSpPr/>
          <p:nvPr/>
        </p:nvSpPr>
        <p:spPr>
          <a:xfrm>
            <a:off x="9418320" y="466344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F2F3F8"/>
          </a:solidFill>
          <a:ln w="12700">
            <a:solidFill>
              <a:srgbClr val="8A93B8"/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9418320" y="4663440"/>
            <a:ext cx="182880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[저장] 확정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411480" y="5440680"/>
            <a:ext cx="11338560" cy="54864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스테이지 종료 처리(UC-Pipe-06) : stage를 Closed/Canceled로 변경·저장 → 시스템이 closed_date 설정. 재오픈 허용 시 다른 단계로 변경하며 closed_date를 비운다. 종료 상태에서도 계약 연결 정보는 유지된다.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5-2.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SCR-SLS-02 고객 액티비티 관리 — 메인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4023360"/>
          </a:xfrm>
          <a:prstGeom prst="roundRect">
            <a:avLst>
              <a:gd name="adj" fmla="val 1136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액티비티 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SALES &gt; 고객 액티비티 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455371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455371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: PL2601 · 액티비티 3건 · 선택 : A-0003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455371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400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8308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267712" y="146761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9514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18688" y="1399032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*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023360" y="1467612"/>
            <a:ext cx="1920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050792" y="1467612"/>
            <a:ext cx="1874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PL2601 · (주)라이언커머스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96188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72784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활동타입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6867144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94576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1746504"/>
            <a:ext cx="6226150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3776" y="1746504"/>
            <a:ext cx="60798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액티비티 목록 (Head)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8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2075688"/>
          <a:ext cx="544068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868680"/>
                <a:gridCol w="594360"/>
                <a:gridCol w="2377440"/>
                <a:gridCol w="91440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액티비티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생성일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타입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활동내역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상대방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A-0001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07-14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메일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캠페인 제안서 송부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김하늘 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A-0002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07-22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견적 범위 협의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김하늘 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A-0003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08-05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3분기 대행 범위 · 단가 협상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이준호 이사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</a:tbl>
          </a:graphicData>
        </a:graphic>
      </p:graphicFrame>
      <p:sp>
        <p:nvSpPr>
          <p:cNvPr id="40" name="Shape 37"/>
          <p:cNvSpPr/>
          <p:nvPr/>
        </p:nvSpPr>
        <p:spPr>
          <a:xfrm>
            <a:off x="6646774" y="1746504"/>
            <a:ext cx="509412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719926" y="1746504"/>
            <a:ext cx="49478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액티비티 상세 (Detail)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③</a:t>
            </a:r>
            <a:endParaRPr lang="en-US" sz="85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83934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3722522"/>
              </a:tblGrid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액티비티 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A-0003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 생성일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 타입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 · 미팅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활동내역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3분기 대행 범위·단가 협상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상대방 담당자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이준호 이사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첨부 링크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drive/…/meeting_0805.pdf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3" name="Shape 39"/>
          <p:cNvSpPr/>
          <p:nvPr/>
        </p:nvSpPr>
        <p:spPr>
          <a:xfrm>
            <a:off x="6646774" y="1746504"/>
            <a:ext cx="914" cy="280720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411480" y="48920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5-2-A. 선택 파이프라인의 액티비티 목록/상세 (UC-Act-01)</a:t>
            </a:r>
            <a:endParaRPr lang="en-US" sz="9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525780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(선행조건)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파이프라인이 선택되어야 액티비티를 조회(UC-Act-01 전제). 미선택 시 조회하지 않고 선행 선택 안내. F2/Enter로 파이프라인 선택.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액티비티 목록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sales_pipeline_detail을 pipeline_id별 조회(FR-Act-01). 타입 : 메일/전화/미팅/기타(FR-Act-04).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액티비티 상세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필수 : 액티비티 코드(시스템 생성 가능)·활동 타입(FR-Act-03). activity_id·상위 파이프라인은 수정 불가(FR-Act-05). 생성일은 현재일 기본값.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첨부 링크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varchar(250) 링크/경로 검증(FR-Act-06). 형식 위반·250자 초과 시 저장 차단(UC-Act-04 예외). 삭제는 activity_id 단위, 파이프라인 유지(FR-Act-07).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SCR-SLS-03 계약관리 — 메인(조회) 화면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11480" y="777240"/>
            <a:ext cx="11338560" cy="5029200"/>
          </a:xfrm>
          <a:prstGeom prst="roundRect">
            <a:avLst>
              <a:gd name="adj" fmla="val 909"/>
            </a:avLst>
          </a:prstGeom>
          <a:solidFill>
            <a:srgbClr val="FFFFFF"/>
          </a:solidFill>
          <a:ln w="19050">
            <a:solidFill>
              <a:srgbClr val="8A93B8"/>
            </a:solidFill>
            <a:prstDash val="solid"/>
          </a:ln>
          <a:effectLst>
            <a:outerShdw sx="100000" sy="100000" kx="0" ky="0" algn="bl" rotWithShape="0" blurRad="76200" dist="25400" dir="5400000">
              <a:srgbClr val="1E285A">
                <a:alpha val="1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1480" y="777240"/>
            <a:ext cx="11338560" cy="292608"/>
          </a:xfrm>
          <a:prstGeom prst="rect">
            <a:avLst/>
          </a:prstGeom>
          <a:solidFill>
            <a:srgbClr val="2E3A87"/>
          </a:solidFill>
          <a:ln/>
        </p:spPr>
      </p:sp>
      <p:sp>
        <p:nvSpPr>
          <p:cNvPr id="5" name="Text 3"/>
          <p:cNvSpPr/>
          <p:nvPr/>
        </p:nvSpPr>
        <p:spPr>
          <a:xfrm>
            <a:off x="521208" y="77724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계약관리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080760" y="777240"/>
            <a:ext cx="5559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D8DC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AX Bridge &gt; SALES &gt; 계약관리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420624" y="5559552"/>
            <a:ext cx="11320272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5559552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3건 · 선택 : CT2026-01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6080760" y="5559552"/>
            <a:ext cx="5559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: 조회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20624" y="1069848"/>
            <a:ext cx="11320272" cy="32918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1206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1225296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225296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1938528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938528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2651760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364992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64992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078224" y="1120140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7F8FC"/>
          </a:solidFill>
          <a:ln w="9525">
            <a:solidFill>
              <a:srgbClr val="DDE1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78224" y="1120140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3B9C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99032"/>
            <a:ext cx="11320272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0352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 *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1014984" y="1467612"/>
            <a:ext cx="64008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1467612"/>
            <a:ext cx="594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783080" y="1399032"/>
            <a:ext cx="457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회사 *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267712" y="1467612"/>
            <a:ext cx="82296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95144" y="1467612"/>
            <a:ext cx="7772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FST-KR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218688" y="139903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고객사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749040" y="1467612"/>
            <a:ext cx="12344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76472" y="1467612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001768" y="1444752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312664" y="1399032"/>
            <a:ext cx="56692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계약코드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907024" y="1467612"/>
            <a:ext cx="91440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934456" y="1467612"/>
            <a:ext cx="8686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949440" y="139903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7342632" y="1467612"/>
            <a:ext cx="777240" cy="210312"/>
          </a:xfrm>
          <a:prstGeom prst="rect">
            <a:avLst/>
          </a:prstGeom>
          <a:solidFill>
            <a:srgbClr val="FFFFFF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70064" y="1467612"/>
            <a:ext cx="7315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 ▾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20624" y="1746504"/>
            <a:ext cx="5320528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3776" y="1746504"/>
            <a:ext cx="51742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목록 (Head)</a:t>
            </a:r>
            <a:endParaRPr lang="en-US" sz="8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" y="2075688"/>
          <a:ext cx="46634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731520"/>
                <a:gridCol w="1280160"/>
                <a:gridCol w="1143000"/>
                <a:gridCol w="64008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CT2026-01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Agency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(주)라이언커머스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26.01~26.12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CT2026-05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Marketing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블루밍코스메틱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26.03~26.08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CT2025-11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Sourcing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데일리푸드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25.06~26.05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Inactive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</a:tbl>
          </a:graphicData>
        </a:graphic>
      </p:graphicFrame>
      <p:sp>
        <p:nvSpPr>
          <p:cNvPr id="43" name="Shape 40"/>
          <p:cNvSpPr/>
          <p:nvPr/>
        </p:nvSpPr>
        <p:spPr>
          <a:xfrm>
            <a:off x="5741152" y="1746504"/>
            <a:ext cx="5999744" cy="237744"/>
          </a:xfrm>
          <a:prstGeom prst="rect">
            <a:avLst/>
          </a:prstGeom>
          <a:solidFill>
            <a:srgbClr val="F0F2F9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814304" y="1746504"/>
            <a:ext cx="585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35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상세 (Detail)</a:t>
            </a:r>
            <a:pPr indent="0" marL="0">
              <a:buNone/>
            </a:pPr>
            <a:r>
              <a:rPr lang="en-US" sz="8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②</a:t>
            </a:r>
            <a:endParaRPr lang="en-US" sz="85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78312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765432"/>
              </a:tblGrid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C001 · (주)라이언커머스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③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계약코드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A618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CT2026-01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계약유형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· Agency  ▾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PL2601  [ 연결… ]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④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시작일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2026-01-01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종료일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2026-12-31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786744" y="2075688"/>
          <a:ext cx="91440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902592"/>
              </a:tblGrid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계약상태 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 · Active  ▾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계약금액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120,000,000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 종료일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전표일자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2026-01-05</a:t>
                      </a:r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 ⑦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00" b="1" dirty="0">
                          <a:solidFill>
                            <a:srgbClr val="4350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전표번호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 전표 연결… 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EB6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7" name="Shape 42"/>
          <p:cNvSpPr/>
          <p:nvPr/>
        </p:nvSpPr>
        <p:spPr>
          <a:xfrm>
            <a:off x="5741152" y="1746504"/>
            <a:ext cx="914" cy="3813048"/>
          </a:xfrm>
          <a:prstGeom prst="line">
            <a:avLst/>
          </a:prstGeom>
          <a:noFill/>
          <a:ln w="9525">
            <a:solidFill>
              <a:srgbClr val="D7DBEA"/>
            </a:solidFill>
            <a:prstDash val="solid"/>
          </a:ln>
        </p:spPr>
      </p:sp>
      <p:sp>
        <p:nvSpPr>
          <p:cNvPr id="48" name="Text 43"/>
          <p:cNvSpPr/>
          <p:nvPr/>
        </p:nvSpPr>
        <p:spPr>
          <a:xfrm>
            <a:off x="411480" y="589788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5-3-A. 계약관리 메인 (UC-Contract-01) — 다음 슬라이드에 번호별 설명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계약관리 — 번호별 설명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14400"/>
          <a:ext cx="1133856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737360"/>
                <a:gridCol w="905256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(조회조건)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 → 동일 회사의 활성(active) 고객사만 표시(FR-Contract-04, UC-Contract-03). 활성 고객사 없으면 "결과 없음" 상태.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상세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신규 필수 : 그룹·회사·고객사·계약코드·계약유형·시작일·종료일·상태(FR-Contract-03). 수정 시 식별키(contract_id, contract_type)·상위조직 읽기전용(FR-Contract-09).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(Detail)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비활성 고객사는 신규 계약 선택에서 제외(FR-Contract-04). 저장 시 client_id 연결(UC-Contract-03).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④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연결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선행 선택 후 팝업 진입(UC-Contract-04). 동일 그룹/회사 파이프라인만 표시, 파이프라인 고객사명 = 계약 고객사명 일치 검증(FR-Contract-05).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 관리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start_date ≤ end_date 검증(FR-Contract-06). 실제 종료일(closed_date)은 실제 종료/해지 시 별도 기록 — 약정 종료일(end_date)과 구분(UC-Contract-05).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계약상태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 / Inactive / Suspend 코드체계(FR-Contract-07). 허용 외 상태값 저장 차단(UC-Contract-05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⑦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전표 연결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ledger_date와 ledger_no는 둘 다 입력하거나 둘 다 공란(FR-Contract-08). 입력 시 동일 그룹/회사의 finance_ledger_head 존재 검증 — 하나만 입력하거나 전표 미존재 시 저장 차단(UC-Contract-06 예외).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11480" y="5074920"/>
            <a:ext cx="11338560" cy="548640"/>
          </a:xfrm>
          <a:prstGeom prst="rect">
            <a:avLst/>
          </a:prstGeom>
          <a:solidFill>
            <a:srgbClr val="F7F8FC"/>
          </a:solidFill>
          <a:ln w="9525">
            <a:solidFill>
              <a:srgbClr val="D7DBEA"/>
            </a:solidFill>
          </a:ln>
        </p:spPr>
        <p:txBody>
          <a:bodyPr wrap="square" lIns="508" tIns="508" rIns="508" bIns="508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4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계약 삭제(UC-Contract-08) : 파이프라인/전표 연결 확인 → 연결 존재 시 삭제 차단. 계약 수정 시 연결된 파이프라인 정보의 정합성 유지(FR-Contract-09).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5-3.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연결 팝업 · 검증 오류 — 화면 5-3-B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5760720" cy="2834640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57784" y="960120"/>
            <a:ext cx="574243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5" name="Text 3"/>
          <p:cNvSpPr/>
          <p:nvPr/>
        </p:nvSpPr>
        <p:spPr>
          <a:xfrm>
            <a:off x="658368" y="9601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파이프라인 선택 — CT2026-01 (주)라이언커머스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5989320" y="9601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7784" y="3465576"/>
            <a:ext cx="574243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0" y="351129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0" y="351129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A1F3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18304" y="351129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351129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58368" y="1234440"/>
            <a:ext cx="5541264" cy="347472"/>
          </a:xfrm>
          <a:prstGeom prst="rect">
            <a:avLst/>
          </a:prstGeom>
          <a:solidFill>
            <a:srgbClr val="FBFCFF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68096" y="1234440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350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161288" y="1303020"/>
            <a:ext cx="1234440" cy="210312"/>
          </a:xfrm>
          <a:prstGeom prst="rect">
            <a:avLst/>
          </a:prstGeom>
          <a:solidFill>
            <a:srgbClr val="EEF0F6"/>
          </a:solidFill>
          <a:ln w="9525">
            <a:solidFill>
              <a:srgbClr val="AE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0" y="1303020"/>
            <a:ext cx="118872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1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FST · FST-KR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414016" y="1280160"/>
            <a:ext cx="228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072" y="1289304"/>
            <a:ext cx="914400" cy="228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9AA3C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48072" y="1289304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en-US" sz="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" y="1709928"/>
          <a:ext cx="411480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777240"/>
                <a:gridCol w="685800"/>
                <a:gridCol w="1463040"/>
                <a:gridCol w="822960"/>
              </a:tblGrid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선택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코드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유형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B356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스테이지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AF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PL2601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대행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(주)라이언커머스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Nego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6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○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PL2602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마케팅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블루밍코스메틱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Meeting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27432" marR="27432" marT="27432" marB="27432" anchor="ctr">
                    <a:lnL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DD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Text 17"/>
          <p:cNvSpPr/>
          <p:nvPr/>
        </p:nvSpPr>
        <p:spPr>
          <a:xfrm>
            <a:off x="704088" y="27432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buNone/>
            </a:pPr>
            <a:r>
              <a:rPr lang="en-US" sz="850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PL2602 선택 시 → "고객사가 일치하지 않아 연결할 수 없습니다" 안내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48640" y="4160520"/>
            <a:ext cx="576072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9050">
            <a:solidFill>
              <a:srgbClr val="6B76A8"/>
            </a:solidFill>
            <a:prstDash val="solid"/>
          </a:ln>
          <a:effectLst>
            <a:outerShdw sx="100000" sy="100000" kx="0" ky="0" algn="bl" rotWithShape="0" blurRad="101600" dist="38100" dir="5400000">
              <a:srgbClr val="141C46">
                <a:alpha val="30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57784" y="4160520"/>
            <a:ext cx="5742432" cy="274320"/>
          </a:xfrm>
          <a:prstGeom prst="rect">
            <a:avLst/>
          </a:prstGeom>
          <a:solidFill>
            <a:srgbClr val="3D4A94"/>
          </a:solidFill>
          <a:ln/>
        </p:spPr>
      </p:sp>
      <p:sp>
        <p:nvSpPr>
          <p:cNvPr id="23" name="Text 20"/>
          <p:cNvSpPr/>
          <p:nvPr/>
        </p:nvSpPr>
        <p:spPr>
          <a:xfrm>
            <a:off x="658368" y="41605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598932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57784" y="5248656"/>
            <a:ext cx="5742432" cy="320040"/>
          </a:xfrm>
          <a:prstGeom prst="rect">
            <a:avLst/>
          </a:prstGeom>
          <a:solidFill>
            <a:srgbClr val="F7F8FC"/>
          </a:solidFill>
          <a:ln w="6350">
            <a:solidFill>
              <a:srgbClr val="D7DBEA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5486400" y="5294376"/>
            <a:ext cx="658368" cy="228600"/>
          </a:xfrm>
          <a:prstGeom prst="roundRect">
            <a:avLst>
              <a:gd name="adj" fmla="val 12000"/>
            </a:avLst>
          </a:prstGeom>
          <a:solidFill>
            <a:srgbClr val="2E3A87"/>
          </a:solidFill>
          <a:ln w="9525">
            <a:solidFill>
              <a:srgbClr val="232C6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486400" y="5294376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658368" y="4434840"/>
            <a:ext cx="554126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300" b="1" dirty="0">
                <a:solidFill>
                  <a:srgbClr val="B423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</a:t>
            </a:r>
            <a:pPr indent="0" marL="0">
              <a:lnSpc>
                <a:spcPts val="14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시작일(2026-12-01)이 종료일(2026-06-30)보다 늦습니다. </a:t>
            </a:r>
            <a:pPr indent="0" marL="0">
              <a:lnSpc>
                <a:spcPts val="1400"/>
              </a:lnSpc>
              <a:buNone/>
            </a:pPr>
            <a:r>
              <a:rPr lang="en-US" sz="95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
</a:t>
            </a:r>
            <a:pPr indent="0" marL="0">
              <a:lnSpc>
                <a:spcPts val="1400"/>
              </a:lnSpc>
              <a:buNone/>
            </a:pPr>
            <a:r>
              <a:rPr lang="en-US" sz="80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기간을 확인하세요. (FR-Contract-06)</a:t>
            </a:r>
            <a:endParaRPr lang="en-US" sz="1300" dirty="0"/>
          </a:p>
        </p:txBody>
      </p:sp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960120"/>
          <a:ext cx="5120640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960120"/>
                <a:gridCol w="3703320"/>
              </a:tblGrid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번호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설명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 범위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그룹/회사 파이프라인만 표시(FR-Contract-05). 고객사 선행 선택이 전제(UC-Contract-04).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②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 일치 검증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client_name과 계약 고객사의 고객사명 일치 검증 — 불일치 시 연결 차단·안내(UC-Contract-04 예외). 연결 성공 시 양방향(파이프라인 contract_id ↔ 계약 pipeline_id) 정합성 유지.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E3A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③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 검증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저장 시 start_date &gt; end_date이면 저장 차단(UC-Contract-02 예외). 전표 연결의 짝 입력 규칙(둘 다/공란)도 동일 시점 검증(FR-Contract-08).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 26"/>
          <p:cNvSpPr/>
          <p:nvPr/>
        </p:nvSpPr>
        <p:spPr>
          <a:xfrm>
            <a:off x="411480" y="5806440"/>
            <a:ext cx="11338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5-3-B. 파이프라인 연결 검증(UC-Contract-04) 및 기간 검증 오류(UC-Contract-02 예외)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6-1. 공통 · 6-2. 파이프라인 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이벤트 (SYSTEM 편 EVT-COM-01~12 전 화면 준용 — 요약)</a:t>
            </a:r>
            <a:endParaRPr lang="en-US" sz="1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80160"/>
                <a:gridCol w="868680"/>
                <a:gridCol w="598932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EVT-COM-*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툴바/Head/조건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조회·신규·수정·저장·삭제·취소, Head/Detail 연동, F2/Enter 검색, 상위조건 종속 초기화, 미저장 보호 — SYSTEM 편 6-1과 동일 적용.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FR-UI-01~07 / UC-UI-01~05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2139696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SCR-SLS-01 파이프라인 관리</a:t>
            </a:r>
            <a:endParaRPr lang="en-US" sz="12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450592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80160"/>
                <a:gridCol w="868680"/>
                <a:gridCol w="5989320"/>
                <a:gridCol w="219456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EVT-L01-01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고객사명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회사 partner_client 조회 → client_name 텍스트 저장.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FR-Pipe-04 / UC-Pipe-04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EVT-L01-02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담당자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회사 직원 조회. inactive 제외.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FR-Pipe-05 / UC-Pipe-04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EVT-L01-03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필수값(코드·유형·스테이지)+타 회사 고객/직원 차단 검증 → INSERT.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FR-Pipe-03 / UC-Pipe-03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EVT-L01-04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pipeline_id·상위조직 읽기전용. UPDATE 시 adjusted_date 자동 갱신.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FR-Pipe-06 / UC-Pipe-05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EVT-L01-05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스테이지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Change+저장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Closed/Canceled 전환 시 closed_date 설정. 재오픈 시 closed_date 초기화.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FR-Pipe-07 / UC-Pipe-06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EVT-L01-06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[계약 연결…]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 선택 팝업(5-1-B) → 동일 회사+고객사 일치 검증 → contract_id 연결.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FR-Pipe-08 / UC-Pipe-07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EVT-L01-07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액티비티 존재/계약 연결 확인 → 존재 시 삭제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FR-Pipe-09 / UC-Pipe-08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 </a:t>
            </a:r>
            <a:pPr indent="0" marL="0">
              <a:buNone/>
            </a:pPr>
            <a:r>
              <a:rPr lang="en-US" sz="2000" b="1" dirty="0">
                <a:solidFill>
                  <a:srgbClr val="232C6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내역서 — 6-3. 고객 액티비티 관리 · 6-4. 계약관리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SCR-SLS-02 고객 액티비티 관리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25296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80160"/>
                <a:gridCol w="868680"/>
                <a:gridCol w="598932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EVT-L02-01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 선행 선택. 미선택 시 액티비티 조회 미수행.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FR-Act-01 / UC-Act-01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EVT-L02-02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activity_id(시스템 생성 가능) 중복 차단, 활동 타입 필수. 생성일 현재일 기본.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FR-Act-03·04 / UC-Act-02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EVT-L02-03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activity_id·상위 파이프라인 변경 불가. 내용·상대방·첨부링크 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FR-Act-05 / UC-Act-03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EVT-L02-04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첨부 링크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Blur/저장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링크/경로 형식·250자 검증. 위반 시 저장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FR-Act-06 / UC-Act-04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EVT-L02-05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확인 후 해당 activity_id 단위 삭제. 파이프라인 본체 유지.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FR-Act-07 / UC-Act-05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11480" y="3456432"/>
            <a:ext cx="1133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3A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SCR-SLS-03 계약관리</a:t>
            </a:r>
            <a:endParaRPr lang="en-US" sz="1200" dirty="0"/>
          </a:p>
        </p:txBody>
      </p:sp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767328"/>
          <a:ext cx="11338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80160"/>
                <a:gridCol w="868680"/>
                <a:gridCol w="5989320"/>
                <a:gridCol w="2194560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 ID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컴포넌트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내용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관련 FR/UC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3A8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EVT-L03-01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고객사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F2/Enter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회사 활성 고객사만 표시 → client_id 연결.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FR-Contract-04 / UC-Contract-03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EVT-L03-02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[파이프라인 연결…]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동일 회사 파이프라인 팝업(5-3-B) → 고객사명 일치 검증 → pipeline_id 연결.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FR-Contract-05 / UC-Contract-04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EVT-L03-03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기간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Blur/저장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start_date ≤ end_date 검증. 실제 종료 시 closed_date 별도 기록.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FR-Contract-06 / UC-Contract-05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EVT-L03-04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계약상태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Change+저장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Active/Inactive/Suspend 허용 코드만 저장.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FR-Contract-07 / UC-Contract-05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EVT-L03-05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[전표 연결…]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ledger_date·ledger_no 짝 입력 규칙 + 동일 회사 전표 존재 검증 → 연결.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FR-Contract-08 / UC-Contract-06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EVT-L03-06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[저장](신규/수정)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필수값 검증, 식별키·상위조직 변경 차단 → INSERT/UPDATE.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FR-Contract-03·09 / UC-Contract-02·07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32C6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EVT-L03-07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[삭제]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Click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파이프라인/전표 연결 확인 → 연결 존재 시 삭제 차단.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A1F3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FR-Contract-09 / UC-Contract-08</a:t>
                      </a:r>
                      <a:endParaRPr lang="en-US" sz="8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7DB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E3A87"/>
                </a:solidFill>
                <a:latin typeface="Malgun Gothic"/>
              </a:rPr>
              <a:t>7.  구현 반영 개정이력 (v2.0 · 2026-08-14)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786384"/>
            <a:ext cx="11338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E3A87"/>
                </a:solidFill>
                <a:latin typeface="Malgun Gothic"/>
              </a:rPr>
              <a:t>SALES 도메인 — 구현 검토 결과 반영분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188720"/>
          <a:ext cx="113385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331720"/>
                <a:gridCol w="3108960"/>
                <a:gridCol w="4846320"/>
              </a:tblGrid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anchor="ctr" marL="27432" marR="27432" marT="27432" marB="27432">
                    <a:solidFill>
                      <a:srgbClr val="2E3A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anchor="ctr" marL="27432" marR="27432" marT="27432" marB="27432">
                    <a:solidFill>
                      <a:srgbClr val="2E3A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lgun Gothic"/>
                        </a:rPr>
                        <a:t>기존 기재</a:t>
                      </a:r>
                    </a:p>
                  </a:txBody>
                  <a:tcPr anchor="ctr" marL="27432" marR="27432" marT="27432" marB="27432">
                    <a:solidFill>
                      <a:srgbClr val="2E3A8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Malgun Gothic"/>
                        </a:rPr>
                        <a:t>구현 확정 내용 / 근거</a:t>
                      </a:r>
                    </a:p>
                  </a:txBody>
                  <a:tcPr anchor="ctr" marL="27432" marR="27432" marT="27432" marB="27432">
                    <a:solidFill>
                      <a:srgbClr val="2E3A87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공통 UI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메인 화면 신설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(없음) — 로그인 후 첫 메뉴로 직행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루트 경로 '/' 에 메인 화면을 두고 외부 컨설팅 포털을 iframe 으로 임베드한다. 로그인 후 진입 지점도 메인 화면으로 바꿨다.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공통 UI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상단 실행메뉴 탭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(없음)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메뉴 실행 시 헤더에 탭이 생기고 클릭하면 그 화면으로 돌아간다. 탭 생성은 메뉴 클릭이 아니라 경로 변경을 감시하므로 주소 직접 입력·새로고침에도 동작한다. X 로 닫으며, 보던 탭을 닫으면 옆 탭 또는 메인으로 이동한다. 로그아웃 시 초기화.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공통 UI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프레임 크기 조절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고정 2-Frame / 3-Layer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ResizablePanes 공통 컴포넌트로 패널 폭을 드래그 조절한다. 인접 두 패널만 조정되고, 더블클릭 초기화·←/→ 키 조절을 지원하며 조절값은 화면별로 localStorage 에 유지된다. 마스터 12화면과 전표 3-Layer 가 같은 컴포넌트를 쓴다.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테이블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sales_pipeline.contract_id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varchar(10)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varchar(20) 으로 정정 — 연결 대상인 sales_contract.contract_id 가 varchar(20) 이다.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테이블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sales_contract.contract_amount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numeric(10,2)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numeric(18,2) 로 정정 — 금액 컬럼 자리수 통일.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프로시저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usp_sales_activity_save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activity_id 자동생성(ACT+타임스탬프)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09 에서 채번 경합을 막았다. 1/100초 해상도라 동시 등록이 겹칠 수 있어 충돌 시 2자리 일련번호를 덧붙여 재시도한다(WAITFOR 미사용 — 잠금 보유시간을 늘리지 않는다).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프로시저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usp_sales_contract_link_ledger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전표 연결/해제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원본에 T-SQL 구문 오류가 있어 프로시저 생성 자체가 실패했다. 04 에서 직접 수정했다(설계서 부록 C.1-2).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화면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고객 액티비티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별도 메뉴로 기재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구현에서는 파이프라인 화면 안의 하위 패널이다 — 액티비티는 파이프라인 없이 존재할 수 없어 독립 메뉴로 두면 상위 선택 단계가 한 번 더 생긴다. API 경로는 기획대로 /sales/pipelines/{id}/activities 를 유지한다.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ctr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API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스테이지 전환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close / cancel / reopen 행위 엔드포인트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750" b="0">
                          <a:solidFill>
                            <a:srgbClr val="1A1F36"/>
                          </a:solidFill>
                          <a:latin typeface="Malgun Gothic"/>
                        </a:rPr>
                        <a:t>별도 엔드포인트를 두지 않고 PUT /sales/pipelines/{id} 로 처리한다 — closed_date 기록은 트리거(trg_sales_pipeline_audit)가 담당하므로 행위 엔드포인트가 더할 값이 없었다.</a:t>
                      </a:r>
                    </a:p>
                  </a:txBody>
                  <a:tcPr anchor="ctr" marL="27432" marR="2743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730752"/>
            <a:ext cx="11338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66666"/>
                </a:solidFill>
                <a:latin typeface="Malgun Gothic"/>
              </a:rPr>
              <a:t>※ 표기 규약 — 본 기획서의 Type 열은 논리 타입이다. 구현 DDL 에서 한글을 담는 문자열은 nvarchar 로, Boolean 은 bit 로 생성되어 있다. status(bit) 의 극성은 테이블마다 다르다 — system_company·system_entity·system_pod·system_team·finance_bank_account 는 0 이 사용, partner_term·partner_client·partner_vendor·finance_GL·finance_dimension 은 1 이 사용이다. 애플리케이션은 shared-constants 의 isActive() 로 이 차이를 흡수한다.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2026-08-12T08:26:43Z</dcterms:created>
  <dcterms:modified xsi:type="dcterms:W3CDTF">2026-08-12T08:26:43Z</dcterms:modified>
</cp:coreProperties>
</file>