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23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4572000" cy="320040"/>
          </a:xfrm>
          <a:prstGeom prst="rect">
            <a:avLst/>
          </a:prstGeom>
          <a:solidFill>
            <a:srgbClr val="EEF0FA"/>
          </a:solidFill>
          <a:ln w="9525">
            <a:solidFill>
              <a:srgbClr val="D7DBE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 Bridge · 화면설계 산출물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2011680"/>
            <a:ext cx="10058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380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 Bridge</a:t>
            </a:r>
            <a:endParaRPr lang="en-US" sz="38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380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PARTNER 도메인 화면기획서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22960" y="3794760"/>
            <a:ext cx="1280160" cy="64008"/>
          </a:xfrm>
          <a:prstGeom prst="rect">
            <a:avLst/>
          </a:prstGeom>
          <a:solidFill>
            <a:srgbClr val="2E3A8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4069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고객사 등록 · 거래처 등록 · 지급정책 등록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484632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구성 : </a:t>
            </a:r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Table 리스트  ② Table 내역서  ③ ERD  ④ 메뉴 프로세스  ⑤ 화면 기획서  ⑥ 이벤트 내역서
</a:t>
            </a:r>
            <a:pPr indent="0" marL="0">
              <a:lnSpc>
                <a:spcPts val="2200"/>
              </a:lnSpc>
              <a:buNone/>
            </a:pPr>
            <a:r>
              <a:rPr lang="en-US" sz="120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문서 : </a:t>
            </a:r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AX_Bridge_FR_UC_UI_Standardized.xlsx (Partner 테이블명세 · FR · UC)
</a:t>
            </a:r>
            <a:pPr indent="0" marL="0">
              <a:lnSpc>
                <a:spcPts val="2200"/>
              </a:lnSpc>
              <a:buNone/>
            </a:pPr>
            <a:r>
              <a:rPr lang="en-US" sz="120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작성일 : </a:t>
            </a:r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2026-08-12      </a:t>
            </a:r>
            <a:pPr indent="0" marL="0">
              <a:lnSpc>
                <a:spcPts val="2200"/>
              </a:lnSpc>
              <a:buNone/>
            </a:pPr>
            <a:r>
              <a:rPr lang="en-US" sz="120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버전 : </a:t>
            </a:r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v1.0 (Draft)      </a:t>
            </a:r>
            <a:pPr indent="0" marL="0">
              <a:lnSpc>
                <a:spcPts val="2200"/>
              </a:lnSpc>
              <a:buNone/>
            </a:pPr>
            <a:r>
              <a:rPr lang="en-US" sz="120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UI 표준 : </a:t>
            </a:r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 도메인 화면기획서 4-3 및 FR-UI-01~07 준용
</a:t>
            </a:r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화면 내 데이터는 기획 검토용 임시(더미) 데이터입니다.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 </a:t>
            </a:r>
            <a:pPr indent="0" marL="0">
              <a:buNone/>
            </a:pPr>
            <a:r>
              <a:rPr lang="en-US" sz="200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Table 리스트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713232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PARTNER 도메인은 거래상대(고객사·거래처) 마스터와 양측이 공용으로 참조하는 수금/지급정책(partner_term) 3개 테이블로 구성된다.</a:t>
            </a:r>
            <a:endParaRPr lang="en-US" sz="10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43000"/>
          <a:ext cx="1133856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554480"/>
                <a:gridCol w="1188720"/>
                <a:gridCol w="3291840"/>
                <a:gridCol w="3657600"/>
                <a:gridCol w="1188720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Table Name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논리명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주요 Key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 메뉴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partner_client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고객사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PK client_id / FK company·entity / collecting_type → partner_term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매출 거래상대 마스터. 사업자·주소·연락·은행정보와 수금정책(collecting_type) 관리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고객사 등록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partner_vendor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PK vendor_id / FK company·entity / payment_type → partner_term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매입/지급 거래상대 마스터. 고객사와 동일 항목 구조 + 지급정책(payment_type) 관리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거래처 등록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partner_term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수금/지급정책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PK term_id / FK company·entity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EOM·CURM 기준일 규칙과 고정일자·가산일수로 지급일/입금일 계산 규칙 정의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지급정책 등록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11480" y="3749040"/>
            <a:ext cx="11338560" cy="685800"/>
          </a:xfrm>
          <a:prstGeom prst="rect">
            <a:avLst/>
          </a:prstGeom>
          <a:solidFill>
            <a:srgbClr val="F7F8FC"/>
          </a:solidFill>
          <a:ln w="9525">
            <a:solidFill>
              <a:srgbClr val="D7DBEA"/>
            </a:solidFill>
          </a:ln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참조 관계 : partner_client.collecting_type / partner_vendor.payment_type → partner_term.term_id. 고객사·거래처는 SALES 계약(sales_contract.client_id)과 FINANCE 전표(finance_ledger_detail.client_id)에서 참조되며, 참조 중에는 삭제 불가 → 비활성 전환을 우선한다(FR-Client-07, FR-Vendor-07, FR-Term-08).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411480" y="4663440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코드 : 고객사/거래처 status = y(active) / n(pending) · 지급정책 status = Y(사용) / N(미사용)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 </a:t>
            </a:r>
            <a:pPr indent="0" marL="0">
              <a:buNone/>
            </a:pPr>
            <a:r>
              <a:rPr lang="en-US" sz="200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Table 내역서 (1/3) — partner_client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832104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2-1. partner_client (고객사)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43000"/>
          <a:ext cx="11338560" cy="914400"/>
        </p:xfrm>
        <a:graphic>
          <a:graphicData uri="http://schemas.openxmlformats.org/drawingml/2006/table">
            <a:tbl>
              <a:tblPr/>
              <a:tblGrid>
                <a:gridCol w="392409"/>
                <a:gridCol w="1807148"/>
                <a:gridCol w="1600616"/>
                <a:gridCol w="464695"/>
                <a:gridCol w="1084289"/>
                <a:gridCol w="1962046"/>
                <a:gridCol w="619593"/>
                <a:gridCol w="567961"/>
                <a:gridCol w="2839803"/>
              </a:tblGrid>
              <a:tr h="2066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Column-Physical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Column-Logical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Key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Type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Reference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Null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Default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Remark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</a:tr>
              <a:tr h="2066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company_id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그룹코드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155C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FK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varchar(10)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system_company/company_id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 Null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66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entity_id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회사코드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155C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FK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varchar(10)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system_entity/entity_id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 Null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2066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client_id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고객사 코드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B4231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PK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varchar(10)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 Null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66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client_name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고객사명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varchar(50)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 Null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2066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collecting_type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수금 정책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varchar(10)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partner_term/term_id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t>partner_term.term_id 와 길이가 일치해야 FK 를 걸 수 있다 — 원본 varchar(50) 은 FK 생성이 불가해 01 에서 varchar(10) 으로 직접 정정했다(설계서 부록 C.1-1).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66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status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Boolean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 Null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y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y : active, n : pending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2066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vat_id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사업자등록번호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varchar(20)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66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NickName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클라이언트 약칭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varchar(50)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2066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RepName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대표자명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varchar(50)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66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RegNum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주민등록번호/법인번호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varchar(50)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2066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BizIndustry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업태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varchar(50)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66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BizCategory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업종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varchar(50)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2066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client_Address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주소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varchar(200)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66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PhoneNumber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전화번호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varchar(20)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2066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FaxNumber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팩스번호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varchar(20)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66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BankCode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금융기관코드 (은행명)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varchar(50)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2066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BankBranch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은행지점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varchar(50)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66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BankAccount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계좌번호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varchar(50)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2066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BankHolder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예금주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varchar(50)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66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website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웹사이트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varchar(200)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2066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21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logo_url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로고 URL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varchar(200)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66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industry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산업군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varchar(200)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2066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notes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메모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varchar(200)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66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24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default_billing_currency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기본 청구 통화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varchar(10)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 </a:t>
            </a:r>
            <a:pPr indent="0" marL="0">
              <a:buNone/>
            </a:pPr>
            <a:r>
              <a:rPr lang="en-US" sz="200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Table 내역서 (2/3) — partner_vendor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832104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2-2. partner_vendor (거래처)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43000"/>
          <a:ext cx="11338560" cy="914400"/>
        </p:xfrm>
        <a:graphic>
          <a:graphicData uri="http://schemas.openxmlformats.org/drawingml/2006/table">
            <a:tbl>
              <a:tblPr/>
              <a:tblGrid>
                <a:gridCol w="392409"/>
                <a:gridCol w="1807148"/>
                <a:gridCol w="1600616"/>
                <a:gridCol w="464695"/>
                <a:gridCol w="1084289"/>
                <a:gridCol w="1962046"/>
                <a:gridCol w="619593"/>
                <a:gridCol w="567961"/>
                <a:gridCol w="2839803"/>
              </a:tblGrid>
              <a:tr h="2066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Column-Physical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Column-Logical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Key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Type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Reference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Null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Default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Remark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</a:tr>
              <a:tr h="2066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company_id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그룹코드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155C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FK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varchar(10)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system_company/company_id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 Null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66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entity_id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회사코드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155C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FK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varchar(10)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system_entity/entity_id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 Null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2066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vendor_id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고객사 코드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B4231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PK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varchar(10)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 Null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원본 논리명 표기 그대로(실질 : 거래처 코드)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66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vendor_name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고객사명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varchar(50)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 Null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원본 논리명 표기 그대로(실질 : 거래처명)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2066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payment_type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지급 정책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varchar(10)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partner_term/term_id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t>partner_term.term_id 와 길이가 일치해야 FK 를 걸 수 있다 — 원본 varchar(50) 은 FK 생성이 불가해 01 에서 varchar(10) 으로 직접 정정했다(설계서 부록 C.1-1).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66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status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Boolean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 Null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y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y : active, n : pending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2066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vat_id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사업자등록번호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varchar(20)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66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NickName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벤더 약칭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varchar(50)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2066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RepName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대표자명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varchar(50)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66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RegNum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주민등록번호/법인번호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varchar(50)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2066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BizIndustry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업태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varchar(50)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66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BizCategory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업종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varchar(50)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2066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vendor_Address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주소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varchar(200)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66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PhoneNumber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전화번호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varchar(20)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2066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FaxNumber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팩스번호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varchar(20)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66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BankCode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금융기관코드 (은행명)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varchar(50)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2066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BankBranch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은행지점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varchar(50)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66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BankAccount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계좌번호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varchar(50)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2066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BankHolder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예금주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varchar(50)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66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website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웹사이트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varchar(200)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2066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21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logo_url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로고 URL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varchar(200)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66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industry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산업군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varchar(200)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2066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notes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메모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varchar(200)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66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24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default_billing_currency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기본 청구 통화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varchar(10)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 </a:t>
            </a:r>
            <a:pPr indent="0" marL="0">
              <a:buNone/>
            </a:pPr>
            <a:r>
              <a:rPr lang="en-US" sz="200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Table 내역서 (3/3) — partner_term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832104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2-3. partner_term (수금/지급정책)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43000"/>
          <a:ext cx="11338560" cy="914400"/>
        </p:xfrm>
        <a:graphic>
          <a:graphicData uri="http://schemas.openxmlformats.org/drawingml/2006/table">
            <a:tbl>
              <a:tblPr/>
              <a:tblGrid>
                <a:gridCol w="392409"/>
                <a:gridCol w="1807148"/>
                <a:gridCol w="1600616"/>
                <a:gridCol w="464695"/>
                <a:gridCol w="1084289"/>
                <a:gridCol w="1962046"/>
                <a:gridCol w="619593"/>
                <a:gridCol w="567961"/>
                <a:gridCol w="2839803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Column-Physical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Column-Logical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Key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Type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Reference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Null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Default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Remark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company_id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그룹코드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155C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FK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varchar(10)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system_company/company_id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 Null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entity_id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회사코드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155C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FK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varchar(10)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system_entity/entity_id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 Null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term_id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정책코드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B4231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PK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varchar(10)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 Null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term_condition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정책일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varchar(20)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 Null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표시용 정책식. 예: EOM+15, CurM25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base_rule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기준일 규칙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varchar(10)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 Null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EOM: 기준일이 속한 월의 말일 / CURM: 기준일이 속한 현재월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fixed_day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고정 일자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numeric(2,0)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CURM 정책에서 사용. 예: CurM25 → 25. EOM 정책은 NULL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offset_days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가산 일수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numeric(3,0)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 Null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EOM 정책에서 사용. 예: EOM+15 → 월말+15일. CurM 정책은 0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status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사용여부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Boolean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 Null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Y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Y : 사용, N : 미사용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11480" y="42062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정책식 생성/검증 규칙 (FR-Term-05)</a:t>
            </a:r>
            <a:endParaRPr lang="en-US" sz="13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4572000"/>
          <a:ext cx="113385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2377440"/>
                <a:gridCol w="1188720"/>
                <a:gridCol w="1371600"/>
                <a:gridCol w="539496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base_rule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term_condition 형식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fixed_day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offset_days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계산 규칙 (FR-Term-06)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EOM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EOM+{offset_days}  (예: EOM+15)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NULL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가산일수 (예: 15)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기준일이 속한 월의 말일 + offset_days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CURM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CurM{fixed_day}  (예: CurM25)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1~31 (예: 25)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 고정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기준월의 fixed_day. 해당 월에 없는 일자면 그 월 말일로 보정(UC-Term-04 예외)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 </a:t>
            </a:r>
            <a:pPr indent="0" marL="0">
              <a:buNone/>
            </a:pPr>
            <a:r>
              <a:rPr lang="en-US" sz="200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ERD (PARTNER 도메인)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676656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실선 : 필수 참조(Not Null FK) · 점선 : 선택 참조 · 회색 상자 : 타 도메인 테이블(참조 관계 표시용)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2651760" cy="1371600"/>
          </a:xfrm>
          <a:prstGeom prst="roundRect">
            <a:avLst>
              <a:gd name="adj" fmla="val 3333"/>
            </a:avLst>
          </a:prstGeom>
          <a:solidFill>
            <a:srgbClr val="F5F6FA"/>
          </a:solidFill>
          <a:ln w="12700">
            <a:solidFill>
              <a:srgbClr val="8A93B8"/>
            </a:solidFill>
            <a:prstDash val="solid"/>
          </a:ln>
          <a:effectLst>
            <a:outerShdw sx="100000" sy="100000" kx="0" ky="0" algn="bl" rotWithShape="0" blurRad="50800" dist="19050" dir="5400000">
              <a:srgbClr val="1E285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57784" y="1188720"/>
            <a:ext cx="2633472" cy="274320"/>
          </a:xfrm>
          <a:prstGeom prst="rect">
            <a:avLst/>
          </a:prstGeom>
          <a:solidFill>
            <a:srgbClr val="8A93B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887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system_company / entity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1517904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B423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PK company_id / entity_id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 → 회사 종속 구조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(SYSTEM 도메인)
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206240" y="1143000"/>
            <a:ext cx="2926080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5875">
            <a:solidFill>
              <a:srgbClr val="2E3A87"/>
            </a:solidFill>
            <a:prstDash val="solid"/>
          </a:ln>
          <a:effectLst>
            <a:outerShdw sx="100000" sy="100000" kx="0" ky="0" algn="bl" rotWithShape="0" blurRad="50800" dist="19050" dir="5400000">
              <a:srgbClr val="1E285A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15384" y="1143000"/>
            <a:ext cx="2907792" cy="274320"/>
          </a:xfrm>
          <a:prstGeom prst="rect">
            <a:avLst/>
          </a:prstGeom>
          <a:solidFill>
            <a:srgbClr val="2E3A87"/>
          </a:solidFill>
          <a:ln/>
        </p:spPr>
      </p:sp>
      <p:sp>
        <p:nvSpPr>
          <p:cNvPr id="10" name="Text 8"/>
          <p:cNvSpPr/>
          <p:nvPr/>
        </p:nvSpPr>
        <p:spPr>
          <a:xfrm>
            <a:off x="4206240" y="11430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partner_term (수금/지급정책)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15968" y="1472184"/>
            <a:ext cx="2743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B423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PK term_id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1155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FK company_id · entity_id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term_condition (EOM+15, CurM25)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base_rule (EOM / CURM)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fixed_day · offset_days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status (Y/N)
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914400" y="3794760"/>
            <a:ext cx="3108960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5875">
            <a:solidFill>
              <a:srgbClr val="2E3A87"/>
            </a:solidFill>
            <a:prstDash val="solid"/>
          </a:ln>
          <a:effectLst>
            <a:outerShdw sx="100000" sy="100000" kx="0" ky="0" algn="bl" rotWithShape="0" blurRad="50800" dist="19050" dir="5400000">
              <a:srgbClr val="1E285A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23544" y="3794760"/>
            <a:ext cx="3090672" cy="274320"/>
          </a:xfrm>
          <a:prstGeom prst="rect">
            <a:avLst/>
          </a:prstGeom>
          <a:solidFill>
            <a:srgbClr val="2E3A87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794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partner_client (고객사)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24128" y="4123944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B423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PK client_id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1155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FK company_id · entity_id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1155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FK collecting_type → term_id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client_name · NickName · status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vat_id · RegNum · 업태/업종 · 주소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연락처 · 은행정보(4) · website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logo · industry · notes · 기본통화
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0" y="3794760"/>
            <a:ext cx="3108960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5875">
            <a:solidFill>
              <a:srgbClr val="2E3A87"/>
            </a:solidFill>
            <a:prstDash val="solid"/>
          </a:ln>
          <a:effectLst>
            <a:outerShdw sx="100000" sy="100000" kx="0" ky="0" algn="bl" rotWithShape="0" blurRad="50800" dist="19050" dir="5400000">
              <a:srgbClr val="1E285A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81144" y="3794760"/>
            <a:ext cx="3090672" cy="274320"/>
          </a:xfrm>
          <a:prstGeom prst="rect">
            <a:avLst/>
          </a:prstGeom>
          <a:solidFill>
            <a:srgbClr val="2E3A87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0" y="3794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partner_vendor (거래처)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81728" y="4123944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B423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PK vendor_id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1155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FK company_id · entity_id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1155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FK payment_type → term_id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vendor_name · NickName · status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vat_id · RegNum · 업태/업종 · 주소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연락처 · 은행정보(4) · website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logo · industry · notes · 기본통화
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595360" y="2286000"/>
            <a:ext cx="3017520" cy="1234440"/>
          </a:xfrm>
          <a:prstGeom prst="roundRect">
            <a:avLst>
              <a:gd name="adj" fmla="val 3704"/>
            </a:avLst>
          </a:prstGeom>
          <a:solidFill>
            <a:srgbClr val="F5F6FA"/>
          </a:solidFill>
          <a:ln w="12700">
            <a:solidFill>
              <a:srgbClr val="8A93B8"/>
            </a:solidFill>
            <a:prstDash val="solid"/>
          </a:ln>
          <a:effectLst>
            <a:outerShdw sx="100000" sy="100000" kx="0" ky="0" algn="bl" rotWithShape="0" blurRad="50800" dist="19050" dir="5400000">
              <a:srgbClr val="1E285A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604504" y="2286000"/>
            <a:ext cx="2999232" cy="274320"/>
          </a:xfrm>
          <a:prstGeom prst="rect">
            <a:avLst/>
          </a:prstGeom>
          <a:solidFill>
            <a:srgbClr val="8A93B8"/>
          </a:solidFill>
          <a:ln/>
        </p:spPr>
      </p:sp>
      <p:sp>
        <p:nvSpPr>
          <p:cNvPr id="22" name="Text 20"/>
          <p:cNvSpPr/>
          <p:nvPr/>
        </p:nvSpPr>
        <p:spPr>
          <a:xfrm>
            <a:off x="8595360" y="22860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sales_contract (계약)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705088" y="2615184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1155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FK client_id → partner_client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(SALES 도메인)
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8595360" y="4206240"/>
            <a:ext cx="3017520" cy="1371600"/>
          </a:xfrm>
          <a:prstGeom prst="roundRect">
            <a:avLst>
              <a:gd name="adj" fmla="val 3333"/>
            </a:avLst>
          </a:prstGeom>
          <a:solidFill>
            <a:srgbClr val="F5F6FA"/>
          </a:solidFill>
          <a:ln w="12700">
            <a:solidFill>
              <a:srgbClr val="8A93B8"/>
            </a:solidFill>
            <a:prstDash val="solid"/>
          </a:ln>
          <a:effectLst>
            <a:outerShdw sx="100000" sy="100000" kx="0" ky="0" algn="bl" rotWithShape="0" blurRad="50800" dist="19050" dir="5400000">
              <a:srgbClr val="1E285A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604504" y="4206240"/>
            <a:ext cx="2999232" cy="274320"/>
          </a:xfrm>
          <a:prstGeom prst="rect">
            <a:avLst/>
          </a:prstGeom>
          <a:solidFill>
            <a:srgbClr val="8A93B8"/>
          </a:solidFill>
          <a:ln/>
        </p:spPr>
      </p:sp>
      <p:sp>
        <p:nvSpPr>
          <p:cNvPr id="26" name="Text 24"/>
          <p:cNvSpPr/>
          <p:nvPr/>
        </p:nvSpPr>
        <p:spPr>
          <a:xfrm>
            <a:off x="8595360" y="42062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finance_ledger_detail (전표 라인)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705088" y="4535424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1155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FK client_id (관리항목)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지급/수금정책 기반 due_date 계산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(FINANCE 도메인)
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874520" y="2560320"/>
            <a:ext cx="914" cy="1234440"/>
          </a:xfrm>
          <a:prstGeom prst="line">
            <a:avLst/>
          </a:prstGeom>
          <a:noFill/>
          <a:ln w="19050">
            <a:solidFill>
              <a:srgbClr val="41508F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1965960" y="30632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1:N (회사→고객사)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200400" y="1874520"/>
            <a:ext cx="1005840" cy="914"/>
          </a:xfrm>
          <a:prstGeom prst="line">
            <a:avLst/>
          </a:prstGeom>
          <a:noFill/>
          <a:ln w="19050">
            <a:solidFill>
              <a:srgbClr val="41508F"/>
            </a:solidFill>
            <a:prstDash val="solid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3063240" y="162763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1:N (회사→정책)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 flipV="1">
            <a:off x="2788920" y="3017520"/>
            <a:ext cx="2697480" cy="1188720"/>
          </a:xfrm>
          <a:prstGeom prst="line">
            <a:avLst/>
          </a:prstGeom>
          <a:noFill/>
          <a:ln w="19050">
            <a:solidFill>
              <a:srgbClr val="8A93B8"/>
            </a:solidFill>
            <a:prstDash val="dash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3063240" y="35204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0..1:N (정책→고객사)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 flipV="1">
            <a:off x="6126480" y="3017520"/>
            <a:ext cx="914" cy="777240"/>
          </a:xfrm>
          <a:prstGeom prst="line">
            <a:avLst/>
          </a:prstGeom>
          <a:noFill/>
          <a:ln w="19050">
            <a:solidFill>
              <a:srgbClr val="8A93B8"/>
            </a:solidFill>
            <a:prstDash val="dash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6236208" y="32918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0..1:N (정책→거래처)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023360" y="4937760"/>
            <a:ext cx="548640" cy="914"/>
          </a:xfrm>
          <a:prstGeom prst="line">
            <a:avLst/>
          </a:prstGeom>
          <a:noFill/>
          <a:ln w="19050">
            <a:solidFill>
              <a:srgbClr val="41508F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 flipV="1">
            <a:off x="4023360" y="2834640"/>
            <a:ext cx="4572000" cy="1737360"/>
          </a:xfrm>
          <a:prstGeom prst="line">
            <a:avLst/>
          </a:prstGeom>
          <a:noFill/>
          <a:ln w="19050">
            <a:solidFill>
              <a:srgbClr val="8A93B8"/>
            </a:solidFill>
            <a:prstDash val="dash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6949440" y="32461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1:N (고객사→계약)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7680960" y="4937760"/>
            <a:ext cx="914400" cy="914"/>
          </a:xfrm>
          <a:prstGeom prst="line">
            <a:avLst/>
          </a:prstGeom>
          <a:noFill/>
          <a:ln w="19050">
            <a:solidFill>
              <a:srgbClr val="8A93B8"/>
            </a:solidFill>
            <a:prstDash val="dash"/>
            <a:tailEnd type="triangle"/>
          </a:ln>
        </p:spPr>
      </p:sp>
      <p:sp>
        <p:nvSpPr>
          <p:cNvPr id="40" name="Text 38"/>
          <p:cNvSpPr/>
          <p:nvPr/>
        </p:nvSpPr>
        <p:spPr>
          <a:xfrm>
            <a:off x="7269480" y="51206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1:N (고객사/거래처→전표)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48640" y="61722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회사→거래처 1:N 관계는 고객사와 동일(도식 생략). 4.4~5.0 연결선 = 고객사·거래처 동일 항목 구조.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11480" y="6446520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그림 3-1. PARTNER 도메인 ERD — 정책(term)은 고객사 수금·거래처 지급 양측이 공용 참조하며 동일 회사 범위 내에서만 연결한다.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 </a:t>
            </a:r>
            <a:pPr indent="0" marL="0">
              <a:buNone/>
            </a:pPr>
            <a:r>
              <a:rPr lang="en-US" sz="200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메뉴 프로세스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7315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4-1. 메뉴 구조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97280"/>
          <a:ext cx="113385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194560"/>
                <a:gridCol w="1645920"/>
                <a:gridCol w="2377440"/>
                <a:gridCol w="2011680"/>
                <a:gridCol w="20116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Lv1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Lv2 (메뉴)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ID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 테이블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FR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UC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PARTNER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고객사 등록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SCR-PTN-01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partner_client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FR-Client-01~08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UC-Client-01~06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거래처 등록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SCR-PTN-02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partner_vendor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FR-Vendor-01~08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UC-Vendor-01~06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지급정책 등록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SCR-PTN-03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partner_term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FR-Term-01~08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UC-Term-01~06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11480" y="28803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4-2. 기준정보 구축 프로세스 (선행관계)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3291840"/>
            <a:ext cx="2011680" cy="685800"/>
          </a:xfrm>
          <a:prstGeom prst="roundRect">
            <a:avLst>
              <a:gd name="adj" fmla="val 6667"/>
            </a:avLst>
          </a:prstGeom>
          <a:solidFill>
            <a:srgbClr val="F2F3F8"/>
          </a:solidFill>
          <a:ln w="12700">
            <a:solidFill>
              <a:srgbClr val="8A93B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3291840"/>
            <a:ext cx="201168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⓪ 그룹/회사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(SYSTEM 도메인)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2468880" y="3291840"/>
            <a:ext cx="320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788920" y="3291840"/>
            <a:ext cx="2011680" cy="685800"/>
          </a:xfrm>
          <a:prstGeom prst="roundRect">
            <a:avLst>
              <a:gd name="adj" fmla="val 6667"/>
            </a:avLst>
          </a:prstGeom>
          <a:solidFill>
            <a:srgbClr val="EEF0FA"/>
          </a:solidFill>
          <a:ln w="15875">
            <a:solidFill>
              <a:srgbClr val="2E3A8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88920" y="3291840"/>
            <a:ext cx="201168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지급정책 등록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partner_term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800600" y="3291840"/>
            <a:ext cx="320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120640" y="3291840"/>
            <a:ext cx="2011680" cy="685800"/>
          </a:xfrm>
          <a:prstGeom prst="roundRect">
            <a:avLst>
              <a:gd name="adj" fmla="val 6667"/>
            </a:avLst>
          </a:prstGeom>
          <a:solidFill>
            <a:srgbClr val="EEF0FA"/>
          </a:solidFill>
          <a:ln w="15875">
            <a:solidFill>
              <a:srgbClr val="2E3A8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120640" y="3291840"/>
            <a:ext cx="201168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고객사 등록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partner_client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132320" y="3291840"/>
            <a:ext cx="320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452360" y="3291840"/>
            <a:ext cx="2011680" cy="685800"/>
          </a:xfrm>
          <a:prstGeom prst="roundRect">
            <a:avLst>
              <a:gd name="adj" fmla="val 6667"/>
            </a:avLst>
          </a:prstGeom>
          <a:solidFill>
            <a:srgbClr val="EEF0FA"/>
          </a:solidFill>
          <a:ln w="15875">
            <a:solidFill>
              <a:srgbClr val="2E3A8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452360" y="3291840"/>
            <a:ext cx="201168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거래처 등록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partner_vendor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9464040" y="3291840"/>
            <a:ext cx="320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9784080" y="3291840"/>
            <a:ext cx="2011680" cy="685800"/>
          </a:xfrm>
          <a:prstGeom prst="roundRect">
            <a:avLst>
              <a:gd name="adj" fmla="val 6667"/>
            </a:avLst>
          </a:prstGeom>
          <a:solidFill>
            <a:srgbClr val="F2F3F8"/>
          </a:solidFill>
          <a:ln w="12700">
            <a:solidFill>
              <a:srgbClr val="8A93B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784080" y="3291840"/>
            <a:ext cx="201168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계약/전표에서 참조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 · FINANCE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11480" y="4343400"/>
            <a:ext cx="11338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00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선행규칙 : </a:t>
            </a:r>
            <a:pPr indent="0" marL="0">
              <a:lnSpc>
                <a:spcPts val="2000"/>
              </a:lnSpc>
              <a:buNone/>
            </a:pPr>
            <a:r>
              <a:rPr lang="en-US" sz="10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 → 회사 선행 선택(FR-UI-05). 수금/지급정책은 동일 그룹·회사의 사용중(status=Y) 정책만 선택 가능(FR-Client-04, FR-Vendor-04)
</a:t>
            </a:r>
            <a:pPr indent="0" marL="0">
              <a:lnSpc>
                <a:spcPts val="2000"/>
              </a:lnSpc>
              <a:buNone/>
            </a:pPr>
            <a:r>
              <a:rPr lang="en-US" sz="100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정책 선행 : </a:t>
            </a:r>
            <a:pPr indent="0" marL="0">
              <a:lnSpc>
                <a:spcPts val="2000"/>
              </a:lnSpc>
              <a:buNone/>
            </a:pPr>
            <a:r>
              <a:rPr lang="en-US" sz="10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없이 고객사/거래처 등록은 가능(선택 입력)하나, 정책 연결 시 자동 지급일/입금일 계산이 활성화되므로 정책 선등록 권장
</a:t>
            </a:r>
            <a:pPr indent="0" marL="0">
              <a:lnSpc>
                <a:spcPts val="2000"/>
              </a:lnSpc>
              <a:buNone/>
            </a:pPr>
            <a:r>
              <a:rPr lang="en-US" sz="100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정책 변경 : </a:t>
            </a:r>
            <a:pPr indent="0" marL="0">
              <a:lnSpc>
                <a:spcPts val="2000"/>
              </a:lnSpc>
              <a:buNone/>
            </a:pPr>
            <a:r>
              <a:rPr lang="en-US" sz="10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 이후 새로 계산되는 건에만 적용. 이미 확정 저장된 지급일/입금일(due_date)은 자동 변경하지 않음(FR-Term-07, UC-Term-05)
</a:t>
            </a:r>
            <a:pPr indent="0" marL="0">
              <a:lnSpc>
                <a:spcPts val="2000"/>
              </a:lnSpc>
              <a:buNone/>
            </a:pPr>
            <a:r>
              <a:rPr lang="en-US" sz="100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삭제 정책 : </a:t>
            </a:r>
            <a:pPr indent="0" marL="0">
              <a:lnSpc>
                <a:spcPts val="2000"/>
              </a:lnSpc>
              <a:buNone/>
            </a:pPr>
            <a:r>
              <a:rPr lang="en-US" sz="10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고객사/거래처가 참조 중인 정책 삭제 불가(FR-Term-08). 계약/전표가 참조 중인 고객사·거래처 삭제 불가 → 비활성 전환 안내(FR-Client-07, FR-Vendor-07)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5-1.  </a:t>
            </a:r>
            <a:pPr indent="0" marL="0">
              <a:buNone/>
            </a:pPr>
            <a:r>
              <a:rPr lang="en-US" sz="200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SCR-PTN-01 고객사 등록 — 메인(조회) 화면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11480" y="777240"/>
            <a:ext cx="11338560" cy="5029200"/>
          </a:xfrm>
          <a:prstGeom prst="roundRect">
            <a:avLst>
              <a:gd name="adj" fmla="val 909"/>
            </a:avLst>
          </a:prstGeom>
          <a:solidFill>
            <a:srgbClr val="FFFFFF"/>
          </a:solidFill>
          <a:ln w="19050">
            <a:solidFill>
              <a:srgbClr val="8A93B8"/>
            </a:solidFill>
            <a:prstDash val="solid"/>
          </a:ln>
          <a:effectLst>
            <a:outerShdw sx="100000" sy="100000" kx="0" ky="0" algn="bl" rotWithShape="0" blurRad="76200" dist="25400" dir="5400000">
              <a:srgbClr val="1E285A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11480" y="777240"/>
            <a:ext cx="11338560" cy="292608"/>
          </a:xfrm>
          <a:prstGeom prst="rect">
            <a:avLst/>
          </a:prstGeom>
          <a:solidFill>
            <a:srgbClr val="2E3A87"/>
          </a:solidFill>
          <a:ln/>
        </p:spPr>
      </p:sp>
      <p:sp>
        <p:nvSpPr>
          <p:cNvPr id="5" name="Text 3"/>
          <p:cNvSpPr/>
          <p:nvPr/>
        </p:nvSpPr>
        <p:spPr>
          <a:xfrm>
            <a:off x="521208" y="77724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고객사 등록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080760" y="777240"/>
            <a:ext cx="5559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8DC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 Bridge &gt; PARTNER &gt; 고객사 등록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20624" y="5559552"/>
            <a:ext cx="11320272" cy="237744"/>
          </a:xfrm>
          <a:prstGeom prst="rect">
            <a:avLst/>
          </a:prstGeom>
          <a:solidFill>
            <a:srgbClr val="F0F2F9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5559552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 3건 · 선택 : C001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080760" y="5559552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: 조회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20624" y="1069848"/>
            <a:ext cx="11320272" cy="329184"/>
          </a:xfrm>
          <a:prstGeom prst="rect">
            <a:avLst/>
          </a:prstGeom>
          <a:solidFill>
            <a:srgbClr val="F0F2F9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2064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2E3A87"/>
          </a:solidFill>
          <a:ln w="9525">
            <a:solidFill>
              <a:srgbClr val="232C6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225296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9AA3C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5296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938528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9AA3C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38528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651760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7F8FC"/>
          </a:solidFill>
          <a:ln w="9525">
            <a:solidFill>
              <a:srgbClr val="DDE1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3B9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364992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9AA3C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64992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삭제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078224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7F8FC"/>
          </a:solidFill>
          <a:ln w="9525">
            <a:solidFill>
              <a:srgbClr val="DDE1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78224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3B9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20624" y="1399032"/>
            <a:ext cx="11320272" cy="347472"/>
          </a:xfrm>
          <a:prstGeom prst="rect">
            <a:avLst/>
          </a:prstGeom>
          <a:solidFill>
            <a:srgbClr val="FBFCFF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139903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350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 *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014984" y="1467612"/>
            <a:ext cx="685800" cy="210312"/>
          </a:xfrm>
          <a:prstGeom prst="rect">
            <a:avLst/>
          </a:prstGeom>
          <a:solidFill>
            <a:srgbClr val="FFFFFF"/>
          </a:solidFill>
          <a:ln w="9525">
            <a:solidFill>
              <a:srgbClr val="AEB6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42416" y="1467612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FST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719072" y="1444752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029968" y="139903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350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 *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514600" y="1467612"/>
            <a:ext cx="868680" cy="210312"/>
          </a:xfrm>
          <a:prstGeom prst="rect">
            <a:avLst/>
          </a:prstGeom>
          <a:solidFill>
            <a:srgbClr val="FFFFFF"/>
          </a:solidFill>
          <a:ln w="9525">
            <a:solidFill>
              <a:srgbClr val="AEB6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42032" y="1467612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FST-KR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511296" y="139903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350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고객사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041648" y="1467612"/>
            <a:ext cx="1371600" cy="210312"/>
          </a:xfrm>
          <a:prstGeom prst="rect">
            <a:avLst/>
          </a:prstGeom>
          <a:solidFill>
            <a:srgbClr val="FFFFFF"/>
          </a:solidFill>
          <a:ln w="9525">
            <a:solidFill>
              <a:srgbClr val="AEB6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069080" y="1467612"/>
            <a:ext cx="1325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라이언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431536" y="1444752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742432" y="139903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350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135624" y="1467612"/>
            <a:ext cx="777240" cy="210312"/>
          </a:xfrm>
          <a:prstGeom prst="rect">
            <a:avLst/>
          </a:prstGeom>
          <a:solidFill>
            <a:srgbClr val="FFFFFF"/>
          </a:solidFill>
          <a:ln w="9525">
            <a:solidFill>
              <a:srgbClr val="AEB6D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63056" y="1467612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 ▾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20624" y="1746504"/>
            <a:ext cx="4980920" cy="237744"/>
          </a:xfrm>
          <a:prstGeom prst="rect">
            <a:avLst/>
          </a:prstGeom>
          <a:solidFill>
            <a:srgbClr val="F0F2F9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3776" y="1746504"/>
            <a:ext cx="4834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B3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고객사 목록 (Head)</a:t>
            </a:r>
            <a:pPr indent="0" marL="0">
              <a:buNone/>
            </a:pPr>
            <a:r>
              <a:rPr lang="en-US" sz="85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③</a:t>
            </a:r>
            <a:endParaRPr lang="en-US" sz="8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" y="2075688"/>
          <a:ext cx="4599432" cy="914400"/>
        </p:xfrm>
        <a:graphic>
          <a:graphicData uri="http://schemas.openxmlformats.org/drawingml/2006/table">
            <a:tbl>
              <a:tblPr/>
              <a:tblGrid>
                <a:gridCol w="347472"/>
                <a:gridCol w="777240"/>
                <a:gridCol w="1600200"/>
                <a:gridCol w="1051560"/>
                <a:gridCol w="822960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고객사 코드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고객사명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수금정책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C001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(주)라이언커머스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T001 · EOM+15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active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C002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블루밍코스메틱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T002 · CurM25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active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C003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데일리푸드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pending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</a:tbl>
          </a:graphicData>
        </a:graphic>
      </p:graphicFrame>
      <p:sp>
        <p:nvSpPr>
          <p:cNvPr id="41" name="Shape 38"/>
          <p:cNvSpPr/>
          <p:nvPr/>
        </p:nvSpPr>
        <p:spPr>
          <a:xfrm>
            <a:off x="5401544" y="1746504"/>
            <a:ext cx="6339352" cy="237744"/>
          </a:xfrm>
          <a:prstGeom prst="rect">
            <a:avLst/>
          </a:prstGeom>
          <a:solidFill>
            <a:srgbClr val="F0F2F9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474696" y="1746504"/>
            <a:ext cx="6193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B3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고객사 상세 (Detail) — 기본정보 / 은행·기타 탭</a:t>
            </a:r>
            <a:pPr indent="0" marL="0">
              <a:buNone/>
            </a:pPr>
            <a:r>
              <a:rPr lang="en-US" sz="85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④</a:t>
            </a:r>
            <a:endParaRPr lang="en-US" sz="85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38704" y="2075688"/>
          <a:ext cx="91440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980956"/>
              </a:tblGrid>
              <a:tr h="2468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고객사 코드 *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A61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C001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고객사명 *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(주)라이언커머스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약칭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라이언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수금정책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T001 · EOM+15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⑤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 *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active  ▾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⑥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사업자등록번호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214-88-12345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대표자명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오세훈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법인번호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110111-7654321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16940" y="2075688"/>
          <a:ext cx="91440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980956"/>
              </a:tblGrid>
              <a:tr h="2468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업태/업종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도소매 / 전자상거래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주소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서울 성동구 왕십리로 55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전화/팩스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02-777-0200 / 0201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은행/지점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KB국민 · 성수지점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계좌/예금주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123-45-678901 · (주)라이언커머스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웹사이트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lion-commerce.example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산업군/기본통화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커머스 / KRW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⑦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메모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2025~ 인플루언서 캠페인 협업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5" name="Shape 40"/>
          <p:cNvSpPr/>
          <p:nvPr/>
        </p:nvSpPr>
        <p:spPr>
          <a:xfrm>
            <a:off x="5401544" y="1746504"/>
            <a:ext cx="914" cy="3813048"/>
          </a:xfrm>
          <a:prstGeom prst="line">
            <a:avLst/>
          </a:prstGeom>
          <a:noFill/>
          <a:ln w="9525">
            <a:solidFill>
              <a:srgbClr val="D7DBEA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411480" y="5897880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5-1-A. 고객사 등록 메인 (UC-Client-01, UC-Client-02) — 다음 슬라이드에 번호별 설명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5-1.  </a:t>
            </a:r>
            <a:pPr indent="0" marL="0">
              <a:buNone/>
            </a:pPr>
            <a:r>
              <a:rPr lang="en-US" sz="200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고객사 등록 — 번호별 설명</a:t>
            </a:r>
            <a:endParaRPr lang="en-US" sz="2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914400"/>
          <a:ext cx="1133856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737360"/>
                <a:gridCol w="9052560"/>
              </a:tblGrid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그룹/회사 (조회조건)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그룹 → 회사 종속 선행 선택(FR-Client-01, FR-UI-05). 미선택 시 조회하지 않고 선행 선택 안내(UC-Client-01 예외). 변경 시 하위 조건·Head/Detail 초기화.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고객사 (조회조건)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고객사 코드/명 F2/Enter 검색 — 동일 그룹·회사 범위, Exact 후 미일치 시 Like 팝업(공통 패턴 5-1-B, SYSTEM 편 참조).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고객사 목록 (Head)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partner_client 기준 : 고객사 코드, 고객사명, 수금정책(term_id·정책식 결합 표시), 상태(FR-Client-02). 정책 미연결 시 "—".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고객사 상세 (Detail)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항목이 많아(24개 컬럼) 기본정보 / 은행·기타 탭으로 분리. 신규 필수값 : 그룹·회사·고객사 코드·고객사명·상태(FR-Client-03). 수정모드에서 그룹·회사·고객사 코드는 읽기전용(FR-Client-05).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수금정책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F2/Enter → 동일 그룹/회사 + status=Y인 partner_term만 표시(FR-Client-04, 화면 5-1-B). 선택 시 term_id가 collecting_type에 저장(UC-Client-04). 선택 입력 항목.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⑥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y=active / n=pending(FR-Client-06). 비활성 고객사는 신규 계약·전표 선택 목록에서 제외, 기존 참조 유지(UC-Client-05).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⑦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형식 검증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사업자등록번호·전화/팩스·기본 통화 등은 입력된 경우 허용 형식/코드체계 검증(FR-Client-08). 위반 시 저장 차단 + 필드 안내.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11480" y="5212080"/>
            <a:ext cx="11338560" cy="548640"/>
          </a:xfrm>
          <a:prstGeom prst="rect">
            <a:avLst/>
          </a:prstGeom>
          <a:solidFill>
            <a:srgbClr val="F7F8FC"/>
          </a:solidFill>
          <a:ln w="9525">
            <a:solidFill>
              <a:srgbClr val="D7DBEA"/>
            </a:solidFill>
          </a:ln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신규/수정/삭제 프로세스는 공통 패턴(SYSTEM 편 5-1-C·D) 준용. 삭제 시 sales_contract.client_id / finance_ledger_detail.client_id 참조 검증 → 참조 중이면 삭제 차단·상태 변경 안내(FR-Client-07, UC-Client-06).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5-1.  </a:t>
            </a:r>
            <a:pPr indent="0" marL="0">
              <a:buNone/>
            </a:pPr>
            <a:r>
              <a:rPr lang="en-US" sz="200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수금정책 선택 팝업 (F2 / Enter) — 화면 5-1-B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5669280" cy="3108960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9050">
            <a:solidFill>
              <a:srgbClr val="6B76A8"/>
            </a:solidFill>
            <a:prstDash val="solid"/>
          </a:ln>
          <a:effectLst>
            <a:outerShdw sx="100000" sy="100000" kx="0" ky="0" algn="bl" rotWithShape="0" blurRad="101600" dist="38100" dir="5400000">
              <a:srgbClr val="141C46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57784" y="1005840"/>
            <a:ext cx="5650992" cy="274320"/>
          </a:xfrm>
          <a:prstGeom prst="rect">
            <a:avLst/>
          </a:prstGeom>
          <a:solidFill>
            <a:srgbClr val="3D4A94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0058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수금정책 선택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897880" y="1005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57784" y="3785616"/>
            <a:ext cx="5650992" cy="320040"/>
          </a:xfrm>
          <a:prstGeom prst="rect">
            <a:avLst/>
          </a:prstGeom>
          <a:solidFill>
            <a:srgbClr val="F7F8FC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94960" y="3831336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9AA3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94960" y="3831336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626864" y="3831336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2E3A87"/>
          </a:solidFill>
          <a:ln w="9525">
            <a:solidFill>
              <a:srgbClr val="232C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26864" y="3831336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</a:t>
            </a:r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58368" y="1280160"/>
            <a:ext cx="5449824" cy="347472"/>
          </a:xfrm>
          <a:prstGeom prst="rect">
            <a:avLst/>
          </a:prstGeom>
          <a:solidFill>
            <a:srgbClr val="FBFCFF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128016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350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범위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161288" y="1348740"/>
            <a:ext cx="1234440" cy="210312"/>
          </a:xfrm>
          <a:prstGeom prst="rect">
            <a:avLst/>
          </a:prstGeom>
          <a:solidFill>
            <a:srgbClr val="EEF0F6"/>
          </a:solidFill>
          <a:ln w="9525">
            <a:solidFill>
              <a:srgbClr val="AE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1348740"/>
            <a:ext cx="1188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FST · FST-KR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414016" y="132588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24912" y="128016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350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정책코드/식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83864" y="1348740"/>
            <a:ext cx="914400" cy="210312"/>
          </a:xfrm>
          <a:prstGeom prst="rect">
            <a:avLst/>
          </a:prstGeom>
          <a:solidFill>
            <a:srgbClr val="FFFFFF"/>
          </a:solidFill>
          <a:ln w="9525">
            <a:solidFill>
              <a:srgbClr val="AE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11296" y="1348740"/>
            <a:ext cx="868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EOM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056632" y="1335024"/>
            <a:ext cx="914400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9AA3C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56632" y="133502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</a:t>
            </a:r>
            <a:endParaRPr lang="en-US" sz="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4088" y="1783080"/>
          <a:ext cx="457200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777240"/>
                <a:gridCol w="1051560"/>
                <a:gridCol w="822960"/>
                <a:gridCol w="777240"/>
                <a:gridCol w="777240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정책코드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정책일(표시식)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기준규칙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고정일자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가산일수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T001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EOM+15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EOM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○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T003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EOM+30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EOM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704088" y="29077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</a:t>
            </a:r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status=Y(사용중) 정책만 · Like 결과 2건</a:t>
            </a:r>
            <a:endParaRPr lang="en-US" sz="10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1005840"/>
          <a:ext cx="521208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960120"/>
                <a:gridCol w="3794760"/>
              </a:tblGrid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조회 범위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고객사의 그룹/회사가 결정된 상태에서만 팝업 진입(UC-Client-04 전제). 동일 회사의 사용중(status=Y) partner_term만 표시(FR-Client-04).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목록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정책코드·표시식·기준규칙·고정일자·가산일수 표시. 사용중 정책 없으면 "결과 없음" 상태(UC-Client-04 예외). Enter는 Exact→Like.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 term_id가 collecting_type에 연결. 거래처 화면에서는 동일 팝업으로 payment_type에 연결(UC-Vendor-04).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11480" y="4343400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5-1-B. 수금정책 선택 (FR-Client-04, UC-Client-04) — 거래처의 지급정책 선택(FR-Vendor-04)과 공용 패턴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411480" y="4800600"/>
            <a:ext cx="11338560" cy="640080"/>
          </a:xfrm>
          <a:prstGeom prst="rect">
            <a:avLst/>
          </a:prstGeom>
          <a:solidFill>
            <a:srgbClr val="F7F8FC"/>
          </a:solidFill>
          <a:ln w="9525">
            <a:solidFill>
              <a:srgbClr val="D7DBEA"/>
            </a:solidFill>
          </a:ln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변경 프로세스 : 팝업 [확인] → Detail의 수금정책 필드에 "정책코드 · 정책식" 표시(편집 상태 유지) → [저장] 시 collecting_type=term_id 저장. 다른 회사 정책 선택은 원천 차단되며 우회 입력 시 저장 단계에서 오류(UC-Client-03 예외).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5-2.  </a:t>
            </a:r>
            <a:pPr indent="0" marL="0">
              <a:buNone/>
            </a:pPr>
            <a:r>
              <a:rPr lang="en-US" sz="200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SCR-PTN-02 거래처 등록 — 메인(조회) 화면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11480" y="777240"/>
            <a:ext cx="11338560" cy="3931920"/>
          </a:xfrm>
          <a:prstGeom prst="roundRect">
            <a:avLst>
              <a:gd name="adj" fmla="val 1163"/>
            </a:avLst>
          </a:prstGeom>
          <a:solidFill>
            <a:srgbClr val="FFFFFF"/>
          </a:solidFill>
          <a:ln w="19050">
            <a:solidFill>
              <a:srgbClr val="8A93B8"/>
            </a:solidFill>
            <a:prstDash val="solid"/>
          </a:ln>
          <a:effectLst>
            <a:outerShdw sx="100000" sy="100000" kx="0" ky="0" algn="bl" rotWithShape="0" blurRad="76200" dist="25400" dir="5400000">
              <a:srgbClr val="1E285A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11480" y="777240"/>
            <a:ext cx="11338560" cy="292608"/>
          </a:xfrm>
          <a:prstGeom prst="rect">
            <a:avLst/>
          </a:prstGeom>
          <a:solidFill>
            <a:srgbClr val="2E3A87"/>
          </a:solidFill>
          <a:ln/>
        </p:spPr>
      </p:sp>
      <p:sp>
        <p:nvSpPr>
          <p:cNvPr id="5" name="Text 3"/>
          <p:cNvSpPr/>
          <p:nvPr/>
        </p:nvSpPr>
        <p:spPr>
          <a:xfrm>
            <a:off x="521208" y="77724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거래처 등록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080760" y="777240"/>
            <a:ext cx="5559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8DC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 Bridge &gt; PARTNER &gt; 거래처 등록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20624" y="4462272"/>
            <a:ext cx="11320272" cy="237744"/>
          </a:xfrm>
          <a:prstGeom prst="rect">
            <a:avLst/>
          </a:prstGeom>
          <a:solidFill>
            <a:srgbClr val="F0F2F9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4462272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 3건 · 선택 : V001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080760" y="4462272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: 조회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20624" y="1069848"/>
            <a:ext cx="11320272" cy="329184"/>
          </a:xfrm>
          <a:prstGeom prst="rect">
            <a:avLst/>
          </a:prstGeom>
          <a:solidFill>
            <a:srgbClr val="F0F2F9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2064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2E3A87"/>
          </a:solidFill>
          <a:ln w="9525">
            <a:solidFill>
              <a:srgbClr val="232C6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225296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9AA3C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5296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938528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9AA3C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38528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651760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7F8FC"/>
          </a:solidFill>
          <a:ln w="9525">
            <a:solidFill>
              <a:srgbClr val="DDE1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3B9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364992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9AA3C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64992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삭제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078224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7F8FC"/>
          </a:solidFill>
          <a:ln w="9525">
            <a:solidFill>
              <a:srgbClr val="DDE1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78224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3B9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20624" y="1399032"/>
            <a:ext cx="11320272" cy="347472"/>
          </a:xfrm>
          <a:prstGeom prst="rect">
            <a:avLst/>
          </a:prstGeom>
          <a:solidFill>
            <a:srgbClr val="FBFCFF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139903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350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 *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014984" y="1467612"/>
            <a:ext cx="685800" cy="210312"/>
          </a:xfrm>
          <a:prstGeom prst="rect">
            <a:avLst/>
          </a:prstGeom>
          <a:solidFill>
            <a:srgbClr val="FFFFFF"/>
          </a:solidFill>
          <a:ln w="9525">
            <a:solidFill>
              <a:srgbClr val="AEB6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42416" y="1467612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FST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828800" y="139903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350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 *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313432" y="1467612"/>
            <a:ext cx="868680" cy="210312"/>
          </a:xfrm>
          <a:prstGeom prst="rect">
            <a:avLst/>
          </a:prstGeom>
          <a:solidFill>
            <a:srgbClr val="FFFFFF"/>
          </a:solidFill>
          <a:ln w="9525">
            <a:solidFill>
              <a:srgbClr val="AEB6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40864" y="1467612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FST-KR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310128" y="139903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350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거래처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840480" y="1467612"/>
            <a:ext cx="1371600" cy="210312"/>
          </a:xfrm>
          <a:prstGeom prst="rect">
            <a:avLst/>
          </a:prstGeom>
          <a:solidFill>
            <a:srgbClr val="FFFFFF"/>
          </a:solidFill>
          <a:ln w="9525">
            <a:solidFill>
              <a:srgbClr val="AEB6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67912" y="1467612"/>
            <a:ext cx="1325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230368" y="1444752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541264" y="139903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350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34456" y="1467612"/>
            <a:ext cx="777240" cy="210312"/>
          </a:xfrm>
          <a:prstGeom prst="rect">
            <a:avLst/>
          </a:prstGeom>
          <a:solidFill>
            <a:srgbClr val="FFFFFF"/>
          </a:solidFill>
          <a:ln w="9525">
            <a:solidFill>
              <a:srgbClr val="AEB6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61888" y="1467612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 ▾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20624" y="1746504"/>
            <a:ext cx="5207325" cy="237744"/>
          </a:xfrm>
          <a:prstGeom prst="rect">
            <a:avLst/>
          </a:prstGeom>
          <a:solidFill>
            <a:srgbClr val="F0F2F9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3776" y="1746504"/>
            <a:ext cx="50610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B3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거래처 목록 (Head)</a:t>
            </a:r>
            <a:endParaRPr lang="en-US" sz="8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" y="2075688"/>
          <a:ext cx="4736592" cy="914400"/>
        </p:xfrm>
        <a:graphic>
          <a:graphicData uri="http://schemas.openxmlformats.org/drawingml/2006/table">
            <a:tbl>
              <a:tblPr/>
              <a:tblGrid>
                <a:gridCol w="347472"/>
                <a:gridCol w="822960"/>
                <a:gridCol w="1645920"/>
                <a:gridCol w="1097280"/>
                <a:gridCol w="822960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거래처 코드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거래처명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지급정책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V001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크리에이터플러스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T002 · CurM25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active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V002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미디어랩스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T001 · EOM+15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active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V003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패킹솔루션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pending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</a:tbl>
          </a:graphicData>
        </a:graphic>
      </p:graphicFrame>
      <p:sp>
        <p:nvSpPr>
          <p:cNvPr id="40" name="Shape 37"/>
          <p:cNvSpPr/>
          <p:nvPr/>
        </p:nvSpPr>
        <p:spPr>
          <a:xfrm>
            <a:off x="5627949" y="1746504"/>
            <a:ext cx="6112947" cy="237744"/>
          </a:xfrm>
          <a:prstGeom prst="rect">
            <a:avLst/>
          </a:prstGeom>
          <a:solidFill>
            <a:srgbClr val="F0F2F9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701101" y="1746504"/>
            <a:ext cx="596664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B3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거래처 상세 (Detail) — 기본정보 / 은행·기타 탭</a:t>
            </a:r>
            <a:endParaRPr lang="en-US" sz="85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5109" y="2075688"/>
          <a:ext cx="91440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4741347"/>
              </a:tblGrid>
              <a:tr h="2468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거래처 코드 *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A61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V001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거래처명 *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크리에이터플러스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지급정책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T002 · CurM25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②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 *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active  ▾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사업자등록번호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305-81-45678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은행/계좌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신한 · 100-234-567890 (크리에이터플러스)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3" name="Shape 39"/>
          <p:cNvSpPr/>
          <p:nvPr/>
        </p:nvSpPr>
        <p:spPr>
          <a:xfrm>
            <a:off x="5627949" y="1746504"/>
            <a:ext cx="914" cy="2715768"/>
          </a:xfrm>
          <a:prstGeom prst="line">
            <a:avLst/>
          </a:prstGeom>
          <a:noFill/>
          <a:ln w="9525">
            <a:solidFill>
              <a:srgbClr val="D7DBEA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411480" y="4800600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5-2-A. 거래처 등록 메인 (UC-Vendor-01, UC-Vendor-02) — 고객사 등록과 동일 레이아웃</a:t>
            </a:r>
            <a:endParaRPr lang="en-US" sz="900" dirty="0"/>
          </a:p>
        </p:txBody>
      </p:sp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5166360"/>
          <a:ext cx="1133856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737360"/>
                <a:gridCol w="90525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거래처 (조회조건)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partner_vendor 기준 F2/Enter 검색. 항목 구조는 고객사와 동일하며 정책 필드만 지급정책(payment_type)으로 대체(FR-Vendor-01~02).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지급정책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동일 회사의 사용중 정책만 F2/Enter 선택(FR-Vendor-04) → term_id가 payment_type에 연결(UC-Vendor-04). 비활성 거래처는 신규 지급 관련 선택 목록에서 제외(FR-Vendor-06). 삭제는 업무/회계 참조 시 차단·비활성 전환 우선(FR-Vendor-07 — 현재 명시된 테이블 정의 기준 참조 검증 대상 명시 필요).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5-3.  </a:t>
            </a:r>
            <a:pPr indent="0" marL="0">
              <a:buNone/>
            </a:pPr>
            <a:r>
              <a:rPr lang="en-US" sz="200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SCR-PTN-03 지급정책 등록 — 메인(조회) 화면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11480" y="777240"/>
            <a:ext cx="11338560" cy="3977640"/>
          </a:xfrm>
          <a:prstGeom prst="roundRect">
            <a:avLst>
              <a:gd name="adj" fmla="val 1149"/>
            </a:avLst>
          </a:prstGeom>
          <a:solidFill>
            <a:srgbClr val="FFFFFF"/>
          </a:solidFill>
          <a:ln w="19050">
            <a:solidFill>
              <a:srgbClr val="8A93B8"/>
            </a:solidFill>
            <a:prstDash val="solid"/>
          </a:ln>
          <a:effectLst>
            <a:outerShdw sx="100000" sy="100000" kx="0" ky="0" algn="bl" rotWithShape="0" blurRad="76200" dist="25400" dir="5400000">
              <a:srgbClr val="1E285A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11480" y="777240"/>
            <a:ext cx="11338560" cy="292608"/>
          </a:xfrm>
          <a:prstGeom prst="rect">
            <a:avLst/>
          </a:prstGeom>
          <a:solidFill>
            <a:srgbClr val="2E3A87"/>
          </a:solidFill>
          <a:ln/>
        </p:spPr>
      </p:sp>
      <p:sp>
        <p:nvSpPr>
          <p:cNvPr id="5" name="Text 3"/>
          <p:cNvSpPr/>
          <p:nvPr/>
        </p:nvSpPr>
        <p:spPr>
          <a:xfrm>
            <a:off x="521208" y="77724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지급정책 등록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080760" y="777240"/>
            <a:ext cx="5559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8DC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 Bridge &gt; PARTNER &gt; 지급정책 등록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20624" y="4507992"/>
            <a:ext cx="11320272" cy="237744"/>
          </a:xfrm>
          <a:prstGeom prst="rect">
            <a:avLst/>
          </a:prstGeom>
          <a:solidFill>
            <a:srgbClr val="F0F2F9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4507992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 3건 · 선택 : T001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080760" y="4507992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: 조회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20624" y="1069848"/>
            <a:ext cx="11320272" cy="329184"/>
          </a:xfrm>
          <a:prstGeom prst="rect">
            <a:avLst/>
          </a:prstGeom>
          <a:solidFill>
            <a:srgbClr val="F0F2F9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2064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2E3A87"/>
          </a:solidFill>
          <a:ln w="9525">
            <a:solidFill>
              <a:srgbClr val="232C6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225296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9AA3C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5296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938528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9AA3C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38528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651760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7F8FC"/>
          </a:solidFill>
          <a:ln w="9525">
            <a:solidFill>
              <a:srgbClr val="DDE1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3B9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364992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9AA3C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64992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삭제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078224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7F8FC"/>
          </a:solidFill>
          <a:ln w="9525">
            <a:solidFill>
              <a:srgbClr val="DDE1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78224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3B9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20624" y="1399032"/>
            <a:ext cx="11320272" cy="347472"/>
          </a:xfrm>
          <a:prstGeom prst="rect">
            <a:avLst/>
          </a:prstGeom>
          <a:solidFill>
            <a:srgbClr val="FBFCFF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139903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350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 *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014984" y="1467612"/>
            <a:ext cx="685800" cy="210312"/>
          </a:xfrm>
          <a:prstGeom prst="rect">
            <a:avLst/>
          </a:prstGeom>
          <a:solidFill>
            <a:srgbClr val="FFFFFF"/>
          </a:solidFill>
          <a:ln w="9525">
            <a:solidFill>
              <a:srgbClr val="AEB6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42416" y="1467612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FST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828800" y="139903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350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 *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313432" y="1467612"/>
            <a:ext cx="868680" cy="210312"/>
          </a:xfrm>
          <a:prstGeom prst="rect">
            <a:avLst/>
          </a:prstGeom>
          <a:solidFill>
            <a:srgbClr val="FFFFFF"/>
          </a:solidFill>
          <a:ln w="9525">
            <a:solidFill>
              <a:srgbClr val="AEB6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40864" y="1467612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FST-KR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310128" y="139903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350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정책코드/식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114800" y="1467612"/>
            <a:ext cx="1097280" cy="210312"/>
          </a:xfrm>
          <a:prstGeom prst="rect">
            <a:avLst/>
          </a:prstGeom>
          <a:solidFill>
            <a:srgbClr val="FFFFFF"/>
          </a:solidFill>
          <a:ln w="9525">
            <a:solidFill>
              <a:srgbClr val="AEB6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42232" y="1467612"/>
            <a:ext cx="1051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230368" y="1444752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541264" y="1399032"/>
            <a:ext cx="621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350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사용여부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190488" y="1467612"/>
            <a:ext cx="777240" cy="210312"/>
          </a:xfrm>
          <a:prstGeom prst="rect">
            <a:avLst/>
          </a:prstGeom>
          <a:solidFill>
            <a:srgbClr val="FFFFFF"/>
          </a:solidFill>
          <a:ln w="9525">
            <a:solidFill>
              <a:srgbClr val="AEB6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0" y="1467612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 ▾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20624" y="1746504"/>
            <a:ext cx="5660136" cy="237744"/>
          </a:xfrm>
          <a:prstGeom prst="rect">
            <a:avLst/>
          </a:prstGeom>
          <a:solidFill>
            <a:srgbClr val="F0F2F9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3776" y="1746504"/>
            <a:ext cx="5513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B3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지급정책 목록 (Head)</a:t>
            </a:r>
            <a:pPr indent="0" marL="0">
              <a:buNone/>
            </a:pPr>
            <a:r>
              <a:rPr lang="en-US" sz="85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②</a:t>
            </a:r>
            <a:endParaRPr lang="en-US" sz="8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" y="2075688"/>
          <a:ext cx="480060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822960"/>
                <a:gridCol w="1188720"/>
                <a:gridCol w="868680"/>
                <a:gridCol w="777240"/>
                <a:gridCol w="777240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정책코드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정책일(표시식)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기준규칙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고정일자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가산일수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T001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EOM+15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EOM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T002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CurM25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CURM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T003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EOM+30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EOM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</a:tbl>
          </a:graphicData>
        </a:graphic>
      </p:graphicFrame>
      <p:sp>
        <p:nvSpPr>
          <p:cNvPr id="40" name="Shape 37"/>
          <p:cNvSpPr/>
          <p:nvPr/>
        </p:nvSpPr>
        <p:spPr>
          <a:xfrm>
            <a:off x="6080760" y="1746504"/>
            <a:ext cx="5660136" cy="237744"/>
          </a:xfrm>
          <a:prstGeom prst="rect">
            <a:avLst/>
          </a:prstGeom>
          <a:solidFill>
            <a:srgbClr val="F0F2F9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153912" y="1746504"/>
            <a:ext cx="5513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B3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상세 (Detail)</a:t>
            </a:r>
            <a:pPr indent="0" marL="0">
              <a:buNone/>
            </a:pPr>
            <a:r>
              <a:rPr lang="en-US" sz="85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③</a:t>
            </a:r>
            <a:endParaRPr lang="en-US" sz="85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2075688"/>
          <a:ext cx="914400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4242816"/>
              </a:tblGrid>
              <a:tr h="25603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정책코드 *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A61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T001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기준일 규칙 *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EOM (월말 기준)  ▾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④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고정 일자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A61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 (EOM 정책은 NULL)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가산 일수 *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정책일(표시식) *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A61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EOM+15  (자동 생성)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⑤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사용여부 *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Y (사용)  ▾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3" name="Shape 39"/>
          <p:cNvSpPr/>
          <p:nvPr/>
        </p:nvSpPr>
        <p:spPr>
          <a:xfrm>
            <a:off x="6080760" y="1746504"/>
            <a:ext cx="914" cy="2761488"/>
          </a:xfrm>
          <a:prstGeom prst="line">
            <a:avLst/>
          </a:prstGeom>
          <a:noFill/>
          <a:ln w="9525">
            <a:solidFill>
              <a:srgbClr val="D7DBEA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411480" y="4846320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5-3-A. 지급정책 등록 메인 (UC-Term-01)</a:t>
            </a:r>
            <a:endParaRPr lang="en-US" sz="900" dirty="0"/>
          </a:p>
        </p:txBody>
      </p:sp>
      <p:graphicFrame>
        <p:nvGraphicFramePr>
          <p:cNvPr id="3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5212080"/>
          <a:ext cx="1133856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737360"/>
                <a:gridCol w="90525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정책코드/식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F2/Enter 검색(공통 패턴). 동일 그룹·회사 범위.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정책 목록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partner_term 기준 : 정책코드·표시식·기준규칙·고정일자·가산일수(FR-Term-02). 사용여부 조건 필터.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정책 상세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정책코드는 수정 불가(FR-Term-07). 규칙·사용여부 변경 가능 — 변경은 이후 신규 계산 건에만 적용(UC-Term-05).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기준일 규칙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EOM 또는 CURM만 허용(FR-Term-02). 선택에 따라 고정일자/가산일수 입력 필드가 전환(다음 슬라이드).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표시식 자동 생성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EOM → "EOM+{offset_days}", CURM → "CurM{fixed_day}" 형식으로 자동 생성·검증(FR-Term-05).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5-3.  </a:t>
            </a:r>
            <a:pPr indent="0" marL="0">
              <a:buNone/>
            </a:pPr>
            <a:r>
              <a:rPr lang="en-US" sz="200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신규 등록 — EOM / CURM 입력 규칙 (화면 5-3-B)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CASE 1 · EOM+15 등록 (UC-Term-02)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548640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D7DBEA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914400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4069080"/>
              </a:tblGrid>
              <a:tr h="25603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정책코드 *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T004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E3B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B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B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B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기준일 규칙 *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EOM  ▾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①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E3B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B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B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B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고정 일자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A61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(비활성 — EOM은 NULL)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②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가산 일수 *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E3B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B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B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B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정책일(표시식)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A61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EOM+15  (자동)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263640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CASE 2 · CurM25 등록 (UC-Term-03)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263640" y="1097280"/>
            <a:ext cx="548640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D7DBEA"/>
            </a:solidFill>
            <a:prstDash val="solid"/>
          </a:ln>
        </p:spPr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234440"/>
          <a:ext cx="914400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4069080"/>
              </a:tblGrid>
              <a:tr h="25603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정책코드 *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T005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E3B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B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B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B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기준일 규칙 *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CURM  ▾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E3B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B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B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B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고정 일자 *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③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E3B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B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B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B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가산 일수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A61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  (CURM은 0 고정)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정책일(표시식)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A61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CurM25  (자동)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1480" y="3429000"/>
            <a:ext cx="11338560" cy="320040"/>
          </a:xfrm>
          <a:prstGeom prst="rect">
            <a:avLst/>
          </a:prstGeom>
          <a:solidFill>
            <a:srgbClr val="FFF6F5"/>
          </a:solidFill>
          <a:ln w="9525">
            <a:solidFill>
              <a:srgbClr val="E0A5A0"/>
            </a:solidFill>
          </a:ln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423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검증 예시 : </a:t>
            </a:r>
            <a:pPr indent="0" marL="0">
              <a:buNone/>
            </a:pPr>
            <a:r>
              <a:rPr lang="en-US" sz="9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EOM 정책에 고정일자가 함께 입력되면 저장 전 제거/오류 안내(UC-Term-02 예외) · CURM의 fixed_day가 1~31 범위를 벗어나면 저장 차단(UC-Term-03 예외) </a:t>
            </a:r>
            <a:pPr indent="0" marL="0">
              <a:buNone/>
            </a:pPr>
            <a:r>
              <a:rPr lang="en-US" sz="1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</a:t>
            </a:r>
            <a:endParaRPr lang="en-US" sz="950" dirty="0"/>
          </a:p>
        </p:txBody>
      </p:sp>
      <p:graphicFrame>
        <p:nvGraphicFramePr>
          <p:cNvPr id="4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3977640"/>
          <a:ext cx="1133856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737360"/>
                <a:gridCol w="905256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 선택 전환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EOM 선택 → 가산일수 활성·고정일자 비활성 / CURM 선택 → 고정일자 활성·가산일수 0 고정. 필드 전환은 즉시 반영(FR-Term-03·04).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EOM 저장값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base_rule=EOM, fixed_day=NULL, offset_days=가산일수(FR-Term-03). 표시식 EOM+{offset_days} 자동 생성(FR-Term-05).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CURM 저장값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base_rule=CURM, fixed_day=기준월 일자(1~31), offset_days=0(FR-Term-04). 표시식 CurM{fixed_day} 자동 생성.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 검증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규칙-값 조합 검증 실패 시 저장하지 않고 해당 필드 안내. 정책코드 중복 차단. 저장 성공 시 Head 재조회·신규 행 선택 유지(공통 FR-UI-07).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411480" y="5806440"/>
            <a:ext cx="11338560" cy="502920"/>
          </a:xfrm>
          <a:prstGeom prst="rect">
            <a:avLst/>
          </a:prstGeom>
          <a:solidFill>
            <a:srgbClr val="F7F8FC"/>
          </a:solidFill>
          <a:ln w="9525">
            <a:solidFill>
              <a:srgbClr val="D7DBEA"/>
            </a:solidFill>
          </a:ln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지급정책 삭제(UC-Term-06) : partner_client.collecting_type / partner_vendor.payment_type 참조 검증 → 참조 중이면 삭제 차단·미사용 전환 안내(FR-Term-08).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5-3.  </a:t>
            </a:r>
            <a:pPr indent="0" marL="0">
              <a:buNone/>
            </a:pPr>
            <a:r>
              <a:rPr lang="en-US" sz="200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지급일 계산 미리보기 (화면 5-3-C) — 데이터 처리 프로세스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5394960" cy="3017520"/>
          </a:xfrm>
          <a:prstGeom prst="roundRect">
            <a:avLst>
              <a:gd name="adj" fmla="val 1515"/>
            </a:avLst>
          </a:prstGeom>
          <a:solidFill>
            <a:srgbClr val="FFFFFF"/>
          </a:solidFill>
          <a:ln w="19050">
            <a:solidFill>
              <a:srgbClr val="6B76A8"/>
            </a:solidFill>
            <a:prstDash val="solid"/>
          </a:ln>
          <a:effectLst>
            <a:outerShdw sx="100000" sy="100000" kx="0" ky="0" algn="bl" rotWithShape="0" blurRad="101600" dist="38100" dir="5400000">
              <a:srgbClr val="141C46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57784" y="960120"/>
            <a:ext cx="5376672" cy="274320"/>
          </a:xfrm>
          <a:prstGeom prst="rect">
            <a:avLst/>
          </a:prstGeom>
          <a:solidFill>
            <a:srgbClr val="3D4A94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9601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지급일/입금일 계산 미리보기 — T001 · EOM+15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23560" y="960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57784" y="3648456"/>
            <a:ext cx="5376672" cy="320040"/>
          </a:xfrm>
          <a:prstGeom prst="rect">
            <a:avLst/>
          </a:prstGeom>
          <a:solidFill>
            <a:srgbClr val="F7F8FC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20640" y="3694176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9AA3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0" y="3694176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닫기</a:t>
            </a:r>
            <a:endParaRPr lang="en-US" sz="8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280160"/>
          <a:ext cx="91440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895344"/>
              </a:tblGrid>
              <a:tr h="265176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기준일 *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2026-08-12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①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E3B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B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B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B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6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적용 정책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A61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EOM+15 (월말 + 15일)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 기준월 말일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A61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2026-08-31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 + 가산일수 15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A61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2026-09-15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658368" y="2468880"/>
            <a:ext cx="5175504" cy="457200"/>
          </a:xfrm>
          <a:prstGeom prst="roundRect">
            <a:avLst>
              <a:gd name="adj" fmla="val 8000"/>
            </a:avLst>
          </a:prstGeom>
          <a:solidFill>
            <a:srgbClr val="EEF0FA"/>
          </a:solidFill>
          <a:ln w="12700">
            <a:solidFill>
              <a:srgbClr val="2E3A8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8368" y="2468880"/>
            <a:ext cx="5175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 결과 : </a:t>
            </a:r>
            <a:pPr algn="ctr" indent="0" marL="0">
              <a:buNone/>
            </a:pPr>
            <a:r>
              <a:rPr lang="en-US" sz="120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2026-09-15 </a:t>
            </a:r>
            <a:pPr algn="ctr" indent="0" marL="0">
              <a:buNone/>
            </a:pPr>
            <a:r>
              <a:rPr lang="en-US" sz="105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②</a:t>
            </a:r>
            <a:endParaRPr lang="en-US" sz="1050" dirty="0"/>
          </a:p>
        </p:txBody>
      </p:sp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960120"/>
          <a:ext cx="54864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960120"/>
                <a:gridCol w="4069080"/>
              </a:tblGrid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기준일 입력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사용자가 기준일 입력 → 시스템이 정책 규칙으로 계산(FR-Term-06, UC-Term-04). EOM : 기준월 말일 + offset_days / CURM : 기준월 fixed_day.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계산 결과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예시 — 기준일 2026-08-12 : EOM+15 → 08-31+15 = 2026-09-15 / CurM25 → 2026-08-25. CURM의 fixed_day가 해당 월에 없으면(예: 2월 30일) 그 월 말일로 보정(UC-Term-04 예외).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전표 연계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FINANCE 전표에서 원천 거래에 정책이 연결된 경우 동일 규칙으로 due_date 자동 계산(UC-Ledger-07). 정책 미연결 시 권한에 따라 직접 입력.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411480" y="4297680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5-3-C. 지급일 계산 미리보기 팝업 (FR-Term-06, UC-Term-04)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822960" y="4800600"/>
            <a:ext cx="1691640" cy="658368"/>
          </a:xfrm>
          <a:prstGeom prst="roundRect">
            <a:avLst>
              <a:gd name="adj" fmla="val 6944"/>
            </a:avLst>
          </a:prstGeom>
          <a:solidFill>
            <a:srgbClr val="F2F3F8"/>
          </a:solidFill>
          <a:ln w="12700">
            <a:solidFill>
              <a:srgbClr val="8A93B8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22960" y="4800600"/>
            <a:ext cx="169164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기준일 입력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2514600" y="4800600"/>
            <a:ext cx="256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2770632" y="4800600"/>
            <a:ext cx="1691640" cy="658368"/>
          </a:xfrm>
          <a:prstGeom prst="roundRect">
            <a:avLst>
              <a:gd name="adj" fmla="val 6944"/>
            </a:avLst>
          </a:prstGeom>
          <a:solidFill>
            <a:srgbClr val="F2F3F8"/>
          </a:solidFill>
          <a:ln w="12700">
            <a:solidFill>
              <a:srgbClr val="8A93B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2770632" y="4800600"/>
            <a:ext cx="169164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규칙 조회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(EOM/CURM)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4462272" y="4800600"/>
            <a:ext cx="256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4718304" y="4800600"/>
            <a:ext cx="1691640" cy="658368"/>
          </a:xfrm>
          <a:prstGeom prst="roundRect">
            <a:avLst>
              <a:gd name="adj" fmla="val 6944"/>
            </a:avLst>
          </a:prstGeom>
          <a:solidFill>
            <a:srgbClr val="F2F3F8"/>
          </a:solidFill>
          <a:ln w="12700">
            <a:solidFill>
              <a:srgbClr val="8A93B8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718304" y="4800600"/>
            <a:ext cx="169164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말일/고정일 계산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6409944" y="4800600"/>
            <a:ext cx="256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6665976" y="4800600"/>
            <a:ext cx="1691640" cy="658368"/>
          </a:xfrm>
          <a:prstGeom prst="roundRect">
            <a:avLst>
              <a:gd name="adj" fmla="val 6944"/>
            </a:avLst>
          </a:prstGeom>
          <a:solidFill>
            <a:srgbClr val="F2F3F8"/>
          </a:solidFill>
          <a:ln w="12700">
            <a:solidFill>
              <a:srgbClr val="8A93B8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665976" y="4800600"/>
            <a:ext cx="169164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가산일수 적용</a:t>
            </a:r>
            <a:endParaRPr lang="en-US" sz="850" dirty="0"/>
          </a:p>
        </p:txBody>
      </p:sp>
      <p:sp>
        <p:nvSpPr>
          <p:cNvPr id="26" name="Text 22"/>
          <p:cNvSpPr/>
          <p:nvPr/>
        </p:nvSpPr>
        <p:spPr>
          <a:xfrm>
            <a:off x="8357616" y="4800600"/>
            <a:ext cx="256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8613648" y="4800600"/>
            <a:ext cx="1691640" cy="658368"/>
          </a:xfrm>
          <a:prstGeom prst="roundRect">
            <a:avLst>
              <a:gd name="adj" fmla="val 6944"/>
            </a:avLst>
          </a:prstGeom>
          <a:solidFill>
            <a:srgbClr val="F2F3F8"/>
          </a:solidFill>
          <a:ln w="12700">
            <a:solidFill>
              <a:srgbClr val="8A93B8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8613648" y="4800600"/>
            <a:ext cx="169164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존재하지 않는 일자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월말 보정</a:t>
            </a:r>
            <a:endParaRPr lang="en-US" sz="850" dirty="0"/>
          </a:p>
        </p:txBody>
      </p:sp>
      <p:sp>
        <p:nvSpPr>
          <p:cNvPr id="29" name="Text 25"/>
          <p:cNvSpPr/>
          <p:nvPr/>
        </p:nvSpPr>
        <p:spPr>
          <a:xfrm>
            <a:off x="10305288" y="4800600"/>
            <a:ext cx="256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10561320" y="4800600"/>
            <a:ext cx="1691640" cy="658368"/>
          </a:xfrm>
          <a:prstGeom prst="roundRect">
            <a:avLst>
              <a:gd name="adj" fmla="val 6944"/>
            </a:avLst>
          </a:prstGeom>
          <a:solidFill>
            <a:srgbClr val="F2F3F8"/>
          </a:solidFill>
          <a:ln w="12700">
            <a:solidFill>
              <a:srgbClr val="8A93B8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10561320" y="4800600"/>
            <a:ext cx="169164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계산일 표시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 </a:t>
            </a:r>
            <a:pPr indent="0" marL="0">
              <a:buNone/>
            </a:pPr>
            <a:r>
              <a:rPr lang="en-US" sz="200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 내역서 — 6-1. 공통 · 6-2. 고객사 등록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914400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이벤트 (SYSTEM 편 EVT-COM-01~12 전 화면 준용 — 요약)</a:t>
            </a:r>
            <a:endParaRPr lang="en-US" sz="1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25296"/>
          <a:ext cx="113385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280160"/>
                <a:gridCol w="868680"/>
                <a:gridCol w="5989320"/>
                <a:gridCol w="219456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이벤트 ID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컴포넌트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이벤트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내용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FR/UC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EVT-COM-*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툴바/Head/조건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조회·신규·수정·저장·삭제·취소, Head/Detail 연동, F2/Enter 검색, 상위조건 종속 초기화, 미저장 보호 — SYSTEM 편 6-1과 동일 적용.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FR-UI-01~07 / UC-UI-01~05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11480" y="2139696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SCR-PTN-01 고객사 등록</a:t>
            </a:r>
            <a:endParaRPr lang="en-US" sz="1200" dirty="0"/>
          </a:p>
        </p:txBody>
      </p:sp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450592"/>
          <a:ext cx="113385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280160"/>
                <a:gridCol w="868680"/>
                <a:gridCol w="5989320"/>
                <a:gridCol w="21945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이벤트 ID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컴포넌트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이벤트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내용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FR/UC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EVT-P01-01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고객사(조건)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F2/Enter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동일 그룹·회사 범위 고객사 Exact→Like 조회.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FR-Client-01 / UC-Client-01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EVT-P01-02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수금정책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F2/Enter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동일 회사 status=Y 정책만 표시(5-1-B) → term_id를 collecting_type에 연결.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FR-Client-04 / UC-Client-04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EVT-P01-03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[저장](신규)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Click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필수값(코드·명·상태)+코드 중복+타 회사 정책 차단+형식 검증(사업자번호·통화 등) → INSERT.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FR-Client-03·08 / UC-Client-03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EVT-P01-04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[저장](수정)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Click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그룹·회사·고객사 코드 읽기전용. 정보·수금정책·상태 UPDATE.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FR-Client-05 / UC-Client-05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EVT-P01-05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Change+저장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y/n 관리. 비활성 시 신규 계약/전표 선택 목록 제외, 기존 참조 유지.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FR-Client-06 / UC-Client-05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EVT-P01-06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[삭제]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Click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sales_contract.client_id / finance_ledger_detail.client_id 참조 검증 → 참조 시 차단·상태 변경 안내.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FR-Client-07 / UC-Client-06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 </a:t>
            </a:r>
            <a:pPr indent="0" marL="0">
              <a:buNone/>
            </a:pPr>
            <a:r>
              <a:rPr lang="en-US" sz="200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 내역서 — 6-3. 거래처 등록 · 6-4. 지급정책 등록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914400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SCR-PTN-02 거래처 등록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25296"/>
          <a:ext cx="113385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280160"/>
                <a:gridCol w="868680"/>
                <a:gridCol w="5989320"/>
                <a:gridCol w="219456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이벤트 ID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컴포넌트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이벤트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내용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FR/UC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EVT-P02-01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거래처(조건)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F2/Enter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동일 그룹·회사 범위 거래처 Exact→Like 조회.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FR-Vendor-01 / UC-Vendor-01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EVT-P02-02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지급정책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F2/Enter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동일 회사 status=Y 정책만 → term_id를 payment_type에 연결.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FR-Vendor-04 / UC-Vendor-04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EVT-P02-03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[저장](신규)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Click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필수값+코드 중복+형식 검증(사업자번호·금융기관/계좌·통화) → INSERT.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FR-Vendor-03·08 / UC-Vendor-03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EVT-P02-04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[저장](수정)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Click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그룹·회사·거래처 코드 읽기전용. 정보·지급정책·상태 UPDATE.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FR-Vendor-05·06 / UC-Vendor-05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EVT-P02-05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[삭제]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Click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업무/회계 참조 검증 → 참조 시 차단·비활성 전환 우선.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FR-Vendor-07 / UC-Vendor-06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11480" y="3566160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SCR-PTN-03 지급정책 등록</a:t>
            </a:r>
            <a:endParaRPr lang="en-US" sz="1200" dirty="0"/>
          </a:p>
        </p:txBody>
      </p:sp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3877056"/>
          <a:ext cx="113385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280160"/>
                <a:gridCol w="868680"/>
                <a:gridCol w="5989320"/>
                <a:gridCol w="219456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이벤트 ID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컴포넌트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이벤트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내용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FR/UC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EVT-P03-01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기준일 규칙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Change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EOM ↔ CURM 전환 시 고정일자/가산일수 필드 활성·비활성 전환(5-3-B).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FR-Term-03·04 / UC-Term-02·03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EVT-P03-02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고정일자/가산일수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Blur/저장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EOM: fixed_day=NULL 강제 / CURM: fixed_day 1~31·offset=0 검증. 위반 시 저장 차단.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FR-Term-03·04 / UC-Term-02·03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EVT-P03-03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표시식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Auto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EOM+{offset} / CurM{fixed} 자동 생성·일관성 검증.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FR-Term-05 / UC-Term-02·03·05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EVT-P03-04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[미리보기]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Click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기준일 입력 → EOM: 말일+가산 / CURM: 고정일(월말 보정) 계산 표시(5-3-C).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FR-Term-06 / UC-Term-04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EVT-P03-05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[저장](수정)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Click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정책코드 읽기전용. 변경은 이후 신규 계산 건에만 적용, 확정 due_date 자동 변경 없음.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FR-Term-07 / UC-Term-05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EVT-P03-06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[삭제]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Click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client.collecting_type / vendor.payment_type 참조 검증 → 참조 시 차단·미사용 전환 안내.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FR-Term-08 / UC-Term-06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3A87"/>
                </a:solidFill>
                <a:latin typeface="Malgun Gothic"/>
              </a:rPr>
              <a:t>7.  구현 반영 개정이력 (v2.0 · 2026-08-14)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86384"/>
            <a:ext cx="11338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E3A87"/>
                </a:solidFill>
                <a:latin typeface="Malgun Gothic"/>
              </a:rPr>
              <a:t>PARTNER 도메인 — 구현 검토 결과 반영분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188720"/>
          <a:ext cx="11338560" cy="1664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2331720"/>
                <a:gridCol w="3108960"/>
                <a:gridCol w="4846320"/>
              </a:tblGrid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Malgun Gothic"/>
                        </a:rPr>
                        <a:t>구분</a:t>
                      </a:r>
                    </a:p>
                  </a:txBody>
                  <a:tcPr anchor="ctr" marL="27432" marR="27432" marT="27432" marB="27432">
                    <a:solidFill>
                      <a:srgbClr val="2E3A8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Malgun Gothic"/>
                        </a:rPr>
                        <a:t>항목</a:t>
                      </a:r>
                    </a:p>
                  </a:txBody>
                  <a:tcPr anchor="ctr" marL="27432" marR="27432" marT="27432" marB="27432">
                    <a:solidFill>
                      <a:srgbClr val="2E3A8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Malgun Gothic"/>
                        </a:rPr>
                        <a:t>기존 기재</a:t>
                      </a:r>
                    </a:p>
                  </a:txBody>
                  <a:tcPr anchor="ctr" marL="27432" marR="27432" marT="27432" marB="27432">
                    <a:solidFill>
                      <a:srgbClr val="2E3A8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Malgun Gothic"/>
                        </a:rPr>
                        <a:t>구현 확정 내용 / 근거</a:t>
                      </a:r>
                    </a:p>
                  </a:txBody>
                  <a:tcPr anchor="ctr" marL="27432" marR="27432" marT="27432" marB="27432">
                    <a:solidFill>
                      <a:srgbClr val="2E3A87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1F36"/>
                          </a:solidFill>
                          <a:latin typeface="Malgun Gothic"/>
                        </a:rPr>
                        <a:t>공통 UI</a:t>
                      </a:r>
                    </a:p>
                  </a:txBody>
                  <a:tcPr anchor="ctr" marL="27432" marR="2743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1F36"/>
                          </a:solidFill>
                          <a:latin typeface="Malgun Gothic"/>
                        </a:rPr>
                        <a:t>메인 화면 신설</a:t>
                      </a:r>
                    </a:p>
                  </a:txBody>
                  <a:tcPr anchor="ctr" marL="27432" marR="2743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1F36"/>
                          </a:solidFill>
                          <a:latin typeface="Malgun Gothic"/>
                        </a:rPr>
                        <a:t>(없음) — 로그인 후 첫 메뉴로 직행</a:t>
                      </a:r>
                    </a:p>
                  </a:txBody>
                  <a:tcPr anchor="ctr" marL="27432" marR="2743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1F36"/>
                          </a:solidFill>
                          <a:latin typeface="Malgun Gothic"/>
                        </a:rPr>
                        <a:t>루트 경로 '/' 에 메인 화면을 두고 외부 컨설팅 포털을 iframe 으로 임베드한다. 로그인 후 진입 지점도 메인 화면으로 바꿨다.</a:t>
                      </a:r>
                    </a:p>
                  </a:txBody>
                  <a:tcPr anchor="ctr" marL="27432" marR="27432" marT="27432" marB="27432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1F36"/>
                          </a:solidFill>
                          <a:latin typeface="Malgun Gothic"/>
                        </a:rPr>
                        <a:t>공통 UI</a:t>
                      </a:r>
                    </a:p>
                  </a:txBody>
                  <a:tcPr anchor="ctr" marL="27432" marR="2743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1F36"/>
                          </a:solidFill>
                          <a:latin typeface="Malgun Gothic"/>
                        </a:rPr>
                        <a:t>상단 실행메뉴 탭</a:t>
                      </a:r>
                    </a:p>
                  </a:txBody>
                  <a:tcPr anchor="ctr" marL="27432" marR="2743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1F36"/>
                          </a:solidFill>
                          <a:latin typeface="Malgun Gothic"/>
                        </a:rPr>
                        <a:t>(없음)</a:t>
                      </a:r>
                    </a:p>
                  </a:txBody>
                  <a:tcPr anchor="ctr" marL="27432" marR="2743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1F36"/>
                          </a:solidFill>
                          <a:latin typeface="Malgun Gothic"/>
                        </a:rPr>
                        <a:t>메뉴 실행 시 헤더에 탭이 생기고 클릭하면 그 화면으로 돌아간다. 탭 생성은 메뉴 클릭이 아니라 경로 변경을 감시하므로 주소 직접 입력·새로고침에도 동작한다. X 로 닫으며, 보던 탭을 닫으면 옆 탭 또는 메인으로 이동한다. 로그아웃 시 초기화.</a:t>
                      </a:r>
                    </a:p>
                  </a:txBody>
                  <a:tcPr anchor="ctr" marL="27432" marR="27432" marT="27432" marB="27432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1F36"/>
                          </a:solidFill>
                          <a:latin typeface="Malgun Gothic"/>
                        </a:rPr>
                        <a:t>공통 UI</a:t>
                      </a:r>
                    </a:p>
                  </a:txBody>
                  <a:tcPr anchor="ctr" marL="27432" marR="2743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1F36"/>
                          </a:solidFill>
                          <a:latin typeface="Malgun Gothic"/>
                        </a:rPr>
                        <a:t>프레임 크기 조절</a:t>
                      </a:r>
                    </a:p>
                  </a:txBody>
                  <a:tcPr anchor="ctr" marL="27432" marR="2743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1F36"/>
                          </a:solidFill>
                          <a:latin typeface="Malgun Gothic"/>
                        </a:rPr>
                        <a:t>고정 2-Frame / 3-Layer</a:t>
                      </a:r>
                    </a:p>
                  </a:txBody>
                  <a:tcPr anchor="ctr" marL="27432" marR="2743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1F36"/>
                          </a:solidFill>
                          <a:latin typeface="Malgun Gothic"/>
                        </a:rPr>
                        <a:t>ResizablePanes 공통 컴포넌트로 패널 폭을 드래그 조절한다. 인접 두 패널만 조정되고, 더블클릭 초기화·←/→ 키 조절을 지원하며 조절값은 화면별로 localStorage 에 유지된다. 마스터 12화면과 전표 3-Layer 가 같은 컴포넌트를 쓴다.</a:t>
                      </a:r>
                    </a:p>
                  </a:txBody>
                  <a:tcPr anchor="ctr" marL="27432" marR="27432" marT="27432" marB="27432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1F36"/>
                          </a:solidFill>
                          <a:latin typeface="Malgun Gothic"/>
                        </a:rPr>
                        <a:t>테이블</a:t>
                      </a:r>
                    </a:p>
                  </a:txBody>
                  <a:tcPr anchor="ctr" marL="27432" marR="2743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1F36"/>
                          </a:solidFill>
                          <a:latin typeface="Malgun Gothic"/>
                        </a:rPr>
                        <a:t>partner_client.collecting_type</a:t>
                      </a:r>
                    </a:p>
                  </a:txBody>
                  <a:tcPr anchor="ctr" marL="27432" marR="2743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1F36"/>
                          </a:solidFill>
                          <a:latin typeface="Malgun Gothic"/>
                        </a:rPr>
                        <a:t>varchar(50)</a:t>
                      </a:r>
                    </a:p>
                  </a:txBody>
                  <a:tcPr anchor="ctr" marL="27432" marR="2743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1F36"/>
                          </a:solidFill>
                          <a:latin typeface="Malgun Gothic"/>
                        </a:rPr>
                        <a:t>varchar(10) 으로 정정. partner_term.term_id(varchar(10)) 와 길이가 달라 FK_client_term 을 생성할 수 없었다 — 테이블이 만들어지지 않는 배포 차단 결함이라 01 에서 직접 수정했다.</a:t>
                      </a:r>
                    </a:p>
                  </a:txBody>
                  <a:tcPr anchor="ctr" marL="27432" marR="27432" marT="27432" marB="27432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1F36"/>
                          </a:solidFill>
                          <a:latin typeface="Malgun Gothic"/>
                        </a:rPr>
                        <a:t>테이블</a:t>
                      </a:r>
                    </a:p>
                  </a:txBody>
                  <a:tcPr anchor="ctr" marL="27432" marR="2743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1F36"/>
                          </a:solidFill>
                          <a:latin typeface="Malgun Gothic"/>
                        </a:rPr>
                        <a:t>partner_vendor.payment_type</a:t>
                      </a:r>
                    </a:p>
                  </a:txBody>
                  <a:tcPr anchor="ctr" marL="27432" marR="2743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1F36"/>
                          </a:solidFill>
                          <a:latin typeface="Malgun Gothic"/>
                        </a:rPr>
                        <a:t>varchar(50)</a:t>
                      </a:r>
                    </a:p>
                  </a:txBody>
                  <a:tcPr anchor="ctr" marL="27432" marR="2743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1F36"/>
                          </a:solidFill>
                          <a:latin typeface="Malgun Gothic"/>
                        </a:rPr>
                        <a:t>varchar(10) 으로 정정. 사유 동일(FK_vendor_term).</a:t>
                      </a:r>
                    </a:p>
                  </a:txBody>
                  <a:tcPr anchor="ctr" marL="27432" marR="27432" marT="27432" marB="27432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1F36"/>
                          </a:solidFill>
                          <a:latin typeface="Malgun Gothic"/>
                        </a:rPr>
                        <a:t>프로시저</a:t>
                      </a:r>
                    </a:p>
                  </a:txBody>
                  <a:tcPr anchor="ctr" marL="27432" marR="2743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1F36"/>
                          </a:solidFill>
                          <a:latin typeface="Malgun Gothic"/>
                        </a:rPr>
                        <a:t>usp_partner_term_calc_due</a:t>
                      </a:r>
                    </a:p>
                  </a:txBody>
                  <a:tcPr anchor="ctr" marL="27432" marR="2743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1F36"/>
                          </a:solidFill>
                          <a:latin typeface="Malgun Gothic"/>
                        </a:rPr>
                        <a:t>기준일 → 지급일 계산</a:t>
                      </a:r>
                    </a:p>
                  </a:txBody>
                  <a:tcPr anchor="ctr" marL="27432" marR="2743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1F36"/>
                          </a:solidFill>
                          <a:latin typeface="Malgun Gothic"/>
                        </a:rPr>
                        <a:t>구현 일치. EOM 은 월말+offset, CURM 은 당월 지정일(월말 초과 시 월말 보정). 이미 확정된 전표의 due_date 는 정책을 고쳐도 재계산하지 않는다(FR-Term-07).</a:t>
                      </a:r>
                    </a:p>
                  </a:txBody>
                  <a:tcPr anchor="ctr" marL="27432" marR="2743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301752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66666"/>
                </a:solidFill>
                <a:latin typeface="Malgun Gothic"/>
              </a:rPr>
              <a:t>※ 표기 규약 — 본 기획서의 Type 열은 논리 타입이다. 구현 DDL 에서 한글을 담는 문자열은 nvarchar 로, Boolean 은 bit 로 생성되어 있다. status(bit) 의 극성은 테이블마다 다르다 — system_company·system_entity·system_pod·system_team·finance_bank_account 는 0 이 사용, partner_term·partner_client·partner_vendor·finance_GL·finance_dimension 은 1 이 사용이다. 애플리케이션은 shared-constants 의 isActive() 로 이 차이를 흡수한다.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2026-08-12T08:11:26Z</dcterms:created>
  <dcterms:modified xsi:type="dcterms:W3CDTF">2026-08-12T08:11:26Z</dcterms:modified>
</cp:coreProperties>
</file>